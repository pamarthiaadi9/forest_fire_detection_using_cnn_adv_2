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hu6LSu3HqIz4VVFqWsKv/xdrFT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18A00F-0C98-4F87-926F-D295D357CE52}">
  <a:tblStyle styleId="{7118A00F-0C98-4F87-926F-D295D357CE5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92"/>
  </p:normalViewPr>
  <p:slideViewPr>
    <p:cSldViewPr snapToGrid="0">
      <p:cViewPr varScale="1">
        <p:scale>
          <a:sx n="80" d="100"/>
          <a:sy n="80" d="100"/>
        </p:scale>
        <p:origin x="75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1aae61f75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0" name="Google Shape;290;g11aae61f75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0" name="Google Shape;3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1aae61f751_0_2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6" name="Google Shape;306;g11aae61f751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1aae61f751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g11aae61f751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1" name="Google Shape;3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aae61f751_0_8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7" name="Google Shape;327;g11aae61f751_0_8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aae61f751_0_1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11aae61f751_0_1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1aae61f751_0_1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11aae61f751_0_1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1aae61f751_0_17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9" name="Google Shape;369;g11aae61f751_0_1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1aae61f751_0_20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6" name="Google Shape;376;g11aae61f751_0_20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1aae61f751_0_20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2" name="Google Shape;382;g11aae61f751_0_20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0" name="Google Shape;40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3995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751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84472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75781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04225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82108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926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30640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903850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95596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31959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1858044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amarthiaadi9/Forest_Fire_Detection_using_CNN_Adv"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4" name="Google Shape;294;g11aae61f751_0_0"/>
          <p:cNvSpPr txBox="1"/>
          <p:nvPr/>
        </p:nvSpPr>
        <p:spPr>
          <a:xfrm>
            <a:off x="2000833" y="4673249"/>
            <a:ext cx="8662200" cy="1824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2400"/>
              <a:buFont typeface="Calibri"/>
              <a:buNone/>
            </a:pPr>
            <a:endParaRPr sz="1300" b="1" i="0" u="none" strike="noStrike" cap="none" dirty="0">
              <a:solidFill>
                <a:srgbClr val="000000"/>
              </a:solidFill>
              <a:latin typeface="Arial"/>
              <a:ea typeface="Arial"/>
              <a:cs typeface="Arial"/>
              <a:sym typeface="Arial"/>
            </a:endParaRPr>
          </a:p>
        </p:txBody>
      </p:sp>
      <p:sp>
        <p:nvSpPr>
          <p:cNvPr id="297" name="Google Shape;297;g11aae61f751_0_0"/>
          <p:cNvSpPr txBox="1"/>
          <p:nvPr/>
        </p:nvSpPr>
        <p:spPr>
          <a:xfrm>
            <a:off x="581191" y="3831411"/>
            <a:ext cx="10353860" cy="1316857"/>
          </a:xfrm>
          <a:prstGeom prst="rect">
            <a:avLst/>
          </a:prstGeom>
          <a:noFill/>
          <a:ln>
            <a:noFill/>
          </a:ln>
        </p:spPr>
        <p:txBody>
          <a:bodyPr spcFirstLastPara="1" wrap="square" lIns="91425" tIns="45700" rIns="91425" bIns="45700" anchor="t" anchorCtr="0">
            <a:noAutofit/>
          </a:bodyPr>
          <a:lstStyle/>
          <a:p>
            <a:pPr>
              <a:spcBef>
                <a:spcPts val="640"/>
              </a:spcBef>
              <a:buClr>
                <a:schemeClr val="accent2"/>
              </a:buClr>
              <a:buSzPts val="3200"/>
            </a:pPr>
            <a:r>
              <a:rPr lang="en-US" sz="3200" b="0" i="0" u="none" strike="noStrike" cap="none" dirty="0">
                <a:solidFill>
                  <a:schemeClr val="bg1"/>
                </a:solidFill>
                <a:latin typeface="+mj-lt"/>
                <a:ea typeface="Times New Roman"/>
                <a:cs typeface="Times New Roman"/>
                <a:sym typeface="Times New Roman"/>
              </a:rPr>
              <a:t>Intern Name: Pamarthi Aadi Siva Kartheek</a:t>
            </a:r>
          </a:p>
          <a:p>
            <a:pPr>
              <a:spcBef>
                <a:spcPts val="640"/>
              </a:spcBef>
              <a:buClr>
                <a:schemeClr val="accent2"/>
              </a:buClr>
              <a:buSzPts val="3200"/>
            </a:pPr>
            <a:r>
              <a:rPr lang="en-US" sz="3200" b="0" i="0" u="none" strike="noStrike" cap="none" dirty="0">
                <a:solidFill>
                  <a:schemeClr val="bg1"/>
                </a:solidFill>
                <a:latin typeface="+mj-lt"/>
                <a:ea typeface="Times New Roman"/>
                <a:cs typeface="Times New Roman"/>
                <a:sym typeface="Times New Roman"/>
              </a:rPr>
              <a:t>Intern Id No: SMI77047</a:t>
            </a:r>
          </a:p>
          <a:p>
            <a:pPr>
              <a:spcBef>
                <a:spcPts val="640"/>
              </a:spcBef>
              <a:buClr>
                <a:schemeClr val="accent2"/>
              </a:buClr>
              <a:buSzPts val="3200"/>
            </a:pPr>
            <a:r>
              <a:rPr lang="en-US" sz="3200" b="0" i="0" u="none" strike="noStrike" cap="none" dirty="0">
                <a:solidFill>
                  <a:schemeClr val="bg1"/>
                </a:solidFill>
                <a:latin typeface="+mj-lt"/>
                <a:ea typeface="Times New Roman"/>
                <a:cs typeface="Times New Roman"/>
                <a:sym typeface="Times New Roman"/>
              </a:rPr>
              <a:t>Project Domain: Data Science Internship </a:t>
            </a:r>
          </a:p>
          <a:p>
            <a:pPr>
              <a:spcBef>
                <a:spcPts val="640"/>
              </a:spcBef>
              <a:buClr>
                <a:schemeClr val="accent2"/>
              </a:buClr>
              <a:buSzPts val="3200"/>
            </a:pPr>
            <a:r>
              <a:rPr lang="en-US" sz="3200" dirty="0">
                <a:solidFill>
                  <a:schemeClr val="bg1"/>
                </a:solidFill>
                <a:effectLst/>
                <a:latin typeface="+mj-lt"/>
                <a:cs typeface="Times New Roman"/>
                <a:sym typeface="Times New Roman"/>
              </a:rPr>
              <a:t>Batch : </a:t>
            </a:r>
            <a:r>
              <a:rPr lang="en-IN" sz="3200" dirty="0">
                <a:solidFill>
                  <a:schemeClr val="bg1"/>
                </a:solidFill>
                <a:latin typeface="+mj-lt"/>
                <a:cs typeface="Times New Roman" panose="02020603050405020304" pitchFamily="18" charset="0"/>
                <a:sym typeface="Times New Roman"/>
              </a:rPr>
              <a:t>December </a:t>
            </a:r>
            <a:r>
              <a:rPr lang="en-IN" sz="3200" i="0" dirty="0">
                <a:solidFill>
                  <a:schemeClr val="bg1"/>
                </a:solidFill>
                <a:effectLst/>
                <a:latin typeface="+mj-lt"/>
                <a:cs typeface="Times New Roman" panose="02020603050405020304" pitchFamily="18" charset="0"/>
              </a:rPr>
              <a:t>15, 2024 to April 15, 2025</a:t>
            </a:r>
            <a:br>
              <a:rPr lang="en-IN" sz="1800" dirty="0">
                <a:solidFill>
                  <a:srgbClr val="666666"/>
                </a:solidFill>
                <a:effectLst/>
                <a:latin typeface="TimesNewRomanPSMT"/>
              </a:rPr>
            </a:br>
            <a:endParaRPr lang="en-IN" dirty="0">
              <a:effectLst/>
            </a:endParaRPr>
          </a:p>
          <a:p>
            <a:pPr marL="0" marR="0" lvl="0" indent="0" algn="l" rtl="0">
              <a:lnSpc>
                <a:spcPct val="100000"/>
              </a:lnSpc>
              <a:spcBef>
                <a:spcPts val="640"/>
              </a:spcBef>
              <a:spcAft>
                <a:spcPts val="0"/>
              </a:spcAft>
              <a:buClr>
                <a:schemeClr val="accent2"/>
              </a:buClr>
              <a:buSzPts val="3200"/>
              <a:buFont typeface="Noto Sans Symbols"/>
              <a:buNone/>
            </a:pPr>
            <a:endParaRPr sz="1400" b="0" i="0" u="none" strike="noStrike" cap="none" dirty="0">
              <a:solidFill>
                <a:srgbClr val="000000"/>
              </a:solidFill>
              <a:latin typeface="Arial"/>
              <a:ea typeface="Arial"/>
              <a:cs typeface="Arial"/>
              <a:sym typeface="Arial"/>
            </a:endParaRPr>
          </a:p>
        </p:txBody>
      </p:sp>
      <p:sp>
        <p:nvSpPr>
          <p:cNvPr id="3" name="Title 2">
            <a:extLst>
              <a:ext uri="{FF2B5EF4-FFF2-40B4-BE49-F238E27FC236}">
                <a16:creationId xmlns:a16="http://schemas.microsoft.com/office/drawing/2014/main" id="{EDDA7C2F-D5C3-A99B-C40F-E70E6172A3E5}"/>
              </a:ext>
            </a:extLst>
          </p:cNvPr>
          <p:cNvSpPr>
            <a:spLocks noGrp="1"/>
          </p:cNvSpPr>
          <p:nvPr>
            <p:ph type="ctrTitle"/>
          </p:nvPr>
        </p:nvSpPr>
        <p:spPr>
          <a:xfrm>
            <a:off x="519280" y="972225"/>
            <a:ext cx="10993549" cy="1475013"/>
          </a:xfrm>
        </p:spPr>
        <p:txBody>
          <a:bodyPr>
            <a:normAutofit fontScale="90000"/>
          </a:bodyPr>
          <a:lstStyle/>
          <a:p>
            <a:r>
              <a:rPr lang="en-US" sz="2200" dirty="0"/>
              <a:t>Internship Project Presentation On </a:t>
            </a:r>
            <a:br>
              <a:rPr lang="en-US" dirty="0"/>
            </a:br>
            <a:r>
              <a:rPr lang="en-US" b="1" dirty="0">
                <a:solidFill>
                  <a:schemeClr val="tx1">
                    <a:lumMod val="95000"/>
                    <a:lumOff val="5000"/>
                  </a:schemeClr>
                </a:solidFill>
              </a:rPr>
              <a:t>Forest fire detection using CNN</a:t>
            </a:r>
            <a:br>
              <a:rPr lang="en-US" dirty="0"/>
            </a:br>
            <a:endParaRPr lang="en-US" dirty="0"/>
          </a:p>
        </p:txBody>
      </p:sp>
      <p:pic>
        <p:nvPicPr>
          <p:cNvPr id="1038" name="Picture 14" descr="Slash Mark IT Startup | LinkedIn">
            <a:extLst>
              <a:ext uri="{FF2B5EF4-FFF2-40B4-BE49-F238E27FC236}">
                <a16:creationId xmlns:a16="http://schemas.microsoft.com/office/drawing/2014/main" id="{80F8033C-8E95-C664-5352-11BDCF2766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7503" y="571263"/>
            <a:ext cx="2455326" cy="245532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OVID-19: AICTE launches free e-learning platform to prevent academic loss  amid lockdown">
            <a:extLst>
              <a:ext uri="{FF2B5EF4-FFF2-40B4-BE49-F238E27FC236}">
                <a16:creationId xmlns:a16="http://schemas.microsoft.com/office/drawing/2014/main" id="{022B5C4C-EDB8-7622-25BA-F4E7CD99D6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1836" y="3218477"/>
            <a:ext cx="2770993" cy="1454772"/>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A9CA584F-7BF9-B973-92F2-278C5EC6B8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1836" y="4774435"/>
            <a:ext cx="2744216" cy="15245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t>Contents</a:t>
            </a:r>
            <a:endParaRPr/>
          </a:p>
        </p:txBody>
      </p:sp>
      <p:sp>
        <p:nvSpPr>
          <p:cNvPr id="303" name="Google Shape;303;p2"/>
          <p:cNvSpPr txBox="1">
            <a:spLocks noGrp="1"/>
          </p:cNvSpPr>
          <p:nvPr>
            <p:ph idx="1"/>
          </p:nvPr>
        </p:nvSpPr>
        <p:spPr>
          <a:xfrm>
            <a:off x="444843" y="1897039"/>
            <a:ext cx="11245508" cy="419896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US" sz="2400" dirty="0"/>
              <a:t>Introduction</a:t>
            </a:r>
            <a:endParaRPr dirty="0"/>
          </a:p>
          <a:p>
            <a:pPr marL="342900" lvl="0" indent="-342900" algn="l" rtl="0">
              <a:lnSpc>
                <a:spcPct val="100000"/>
              </a:lnSpc>
              <a:spcBef>
                <a:spcPts val="480"/>
              </a:spcBef>
              <a:spcAft>
                <a:spcPts val="0"/>
              </a:spcAft>
              <a:buSzPts val="2400"/>
              <a:buChar char="⬥"/>
            </a:pPr>
            <a:r>
              <a:rPr lang="en-US" sz="2400" dirty="0"/>
              <a:t>Requirements of Projects </a:t>
            </a:r>
            <a:endParaRPr dirty="0"/>
          </a:p>
          <a:p>
            <a:pPr marL="342900" lvl="0" indent="-342900" algn="l" rtl="0">
              <a:lnSpc>
                <a:spcPct val="100000"/>
              </a:lnSpc>
              <a:spcBef>
                <a:spcPts val="480"/>
              </a:spcBef>
              <a:spcAft>
                <a:spcPts val="0"/>
              </a:spcAft>
              <a:buSzPts val="2400"/>
              <a:buChar char="⬥"/>
            </a:pPr>
            <a:r>
              <a:rPr lang="en-US" sz="2400" dirty="0"/>
              <a:t>Literature Survey</a:t>
            </a:r>
            <a:endParaRPr sz="2400" dirty="0"/>
          </a:p>
          <a:p>
            <a:pPr marL="342900" lvl="0" indent="-342900" algn="l" rtl="0">
              <a:lnSpc>
                <a:spcPct val="100000"/>
              </a:lnSpc>
              <a:spcBef>
                <a:spcPts val="480"/>
              </a:spcBef>
              <a:spcAft>
                <a:spcPts val="0"/>
              </a:spcAft>
              <a:buSzPts val="2400"/>
              <a:buChar char="⬥"/>
            </a:pPr>
            <a:r>
              <a:rPr lang="en-US" sz="2400" dirty="0"/>
              <a:t>Comparative Analysis of Existing Works </a:t>
            </a:r>
            <a:endParaRPr dirty="0"/>
          </a:p>
          <a:p>
            <a:pPr marL="342900" lvl="0" indent="-342900" algn="l" rtl="0">
              <a:lnSpc>
                <a:spcPct val="100000"/>
              </a:lnSpc>
              <a:spcBef>
                <a:spcPts val="480"/>
              </a:spcBef>
              <a:spcAft>
                <a:spcPts val="0"/>
              </a:spcAft>
              <a:buSzPts val="2400"/>
              <a:buChar char="⬥"/>
            </a:pPr>
            <a:r>
              <a:rPr lang="en-US" sz="2400" dirty="0"/>
              <a:t>Proposed Approach</a:t>
            </a:r>
            <a:endParaRPr sz="2400" dirty="0"/>
          </a:p>
          <a:p>
            <a:pPr marL="342900" lvl="0" indent="-342900" algn="l" rtl="0">
              <a:lnSpc>
                <a:spcPct val="100000"/>
              </a:lnSpc>
              <a:spcBef>
                <a:spcPts val="480"/>
              </a:spcBef>
              <a:spcAft>
                <a:spcPts val="0"/>
              </a:spcAft>
              <a:buSzPts val="2400"/>
              <a:buChar char="⬥"/>
            </a:pPr>
            <a:r>
              <a:rPr lang="en-US" sz="2400" dirty="0"/>
              <a:t>Project Design (DFD, Use-Case) and Flow-chart</a:t>
            </a:r>
            <a:endParaRPr dirty="0"/>
          </a:p>
          <a:p>
            <a:pPr marL="342900" lvl="0" indent="-342900" algn="l" rtl="0">
              <a:lnSpc>
                <a:spcPct val="100000"/>
              </a:lnSpc>
              <a:spcBef>
                <a:spcPts val="480"/>
              </a:spcBef>
              <a:spcAft>
                <a:spcPts val="0"/>
              </a:spcAft>
              <a:buSzPts val="2400"/>
              <a:buChar char="⬥"/>
            </a:pPr>
            <a:r>
              <a:rPr lang="en-US" sz="2400" dirty="0"/>
              <a:t>Implementation</a:t>
            </a:r>
            <a:endParaRPr dirty="0"/>
          </a:p>
          <a:p>
            <a:pPr marL="342900" lvl="0" indent="-342900" algn="l" rtl="0">
              <a:lnSpc>
                <a:spcPct val="100000"/>
              </a:lnSpc>
              <a:spcBef>
                <a:spcPts val="480"/>
              </a:spcBef>
              <a:spcAft>
                <a:spcPts val="0"/>
              </a:spcAft>
              <a:buSzPts val="2400"/>
              <a:buChar char="⬥"/>
            </a:pPr>
            <a:r>
              <a:rPr lang="en-US" sz="2400" dirty="0"/>
              <a:t>Results</a:t>
            </a:r>
            <a:endParaRPr dirty="0"/>
          </a:p>
          <a:p>
            <a:pPr marL="342900" lvl="0" indent="-342900" algn="l" rtl="0">
              <a:lnSpc>
                <a:spcPct val="100000"/>
              </a:lnSpc>
              <a:spcBef>
                <a:spcPts val="480"/>
              </a:spcBef>
              <a:spcAft>
                <a:spcPts val="0"/>
              </a:spcAft>
              <a:buSzPts val="2400"/>
              <a:buChar char="⬥"/>
            </a:pPr>
            <a:r>
              <a:rPr lang="en-US" sz="2400" dirty="0"/>
              <a:t>Conclusion and Future Plan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11aae61f751_0_29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t>Introduction</a:t>
            </a:r>
            <a:endParaRPr/>
          </a:p>
        </p:txBody>
      </p:sp>
      <p:sp>
        <p:nvSpPr>
          <p:cNvPr id="309" name="Google Shape;309;g11aae61f751_0_292"/>
          <p:cNvSpPr txBox="1">
            <a:spLocks noGrp="1"/>
          </p:cNvSpPr>
          <p:nvPr>
            <p:ph idx="1"/>
          </p:nvPr>
        </p:nvSpPr>
        <p:spPr>
          <a:xfrm>
            <a:off x="383483" y="1816442"/>
            <a:ext cx="11392506" cy="4148413"/>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0"/>
              </a:spcBef>
              <a:spcAft>
                <a:spcPts val="0"/>
              </a:spcAft>
              <a:buClr>
                <a:srgbClr val="001A36"/>
              </a:buClr>
              <a:buSzPts val="1800"/>
              <a:buChar char="⬥"/>
            </a:pPr>
            <a:r>
              <a:rPr lang="en-US" sz="1800" dirty="0">
                <a:solidFill>
                  <a:srgbClr val="001A36"/>
                </a:solidFill>
              </a:rPr>
              <a:t>Fire in the forest can occur naturally or by humans. Naturally, fire takes place due to extreme drought, hot weather, lightning or combustion of dry leaves and scobs. Human activities like throwing cigarettes, especially in forest areas or using borne fire also lead to fires. </a:t>
            </a:r>
          </a:p>
          <a:p>
            <a:pPr marL="457200" lvl="0" indent="-342900" algn="just" rtl="0">
              <a:lnSpc>
                <a:spcPct val="100000"/>
              </a:lnSpc>
              <a:spcBef>
                <a:spcPts val="0"/>
              </a:spcBef>
              <a:spcAft>
                <a:spcPts val="0"/>
              </a:spcAft>
              <a:buClr>
                <a:srgbClr val="001A36"/>
              </a:buClr>
              <a:buSzPts val="1800"/>
              <a:buChar char="⬥"/>
            </a:pPr>
            <a:endParaRPr sz="1800" dirty="0">
              <a:solidFill>
                <a:srgbClr val="001A36"/>
              </a:solidFill>
            </a:endParaRPr>
          </a:p>
          <a:p>
            <a:pPr marL="457200" lvl="0" indent="-342900" algn="just" rtl="0">
              <a:lnSpc>
                <a:spcPct val="100000"/>
              </a:lnSpc>
              <a:spcBef>
                <a:spcPts val="0"/>
              </a:spcBef>
              <a:spcAft>
                <a:spcPts val="0"/>
              </a:spcAft>
              <a:buClr>
                <a:srgbClr val="001A36"/>
              </a:buClr>
              <a:buSzPts val="1800"/>
              <a:buChar char="⬥"/>
            </a:pPr>
            <a:r>
              <a:rPr lang="en-US" sz="1800" dirty="0">
                <a:solidFill>
                  <a:srgbClr val="001A36"/>
                </a:solidFill>
              </a:rPr>
              <a:t>So, fires which take place due to humans, are identified earlier than naturally occurring fires. There are various factors involved when a region catches fire. The hot and dry weather works as catalysts for fire. Since when there is fire in any region then the temperature of the region will become high due to fire. So increase in temperature is one of the factors which can help in fire detection events. </a:t>
            </a:r>
          </a:p>
          <a:p>
            <a:pPr marL="457200" lvl="0" indent="-342900" algn="just" rtl="0">
              <a:lnSpc>
                <a:spcPct val="100000"/>
              </a:lnSpc>
              <a:spcBef>
                <a:spcPts val="0"/>
              </a:spcBef>
              <a:spcAft>
                <a:spcPts val="0"/>
              </a:spcAft>
              <a:buClr>
                <a:srgbClr val="001A36"/>
              </a:buClr>
              <a:buSzPts val="1800"/>
              <a:buChar char="⬥"/>
            </a:pPr>
            <a:endParaRPr sz="1800" dirty="0">
              <a:solidFill>
                <a:srgbClr val="001A36"/>
              </a:solidFill>
            </a:endParaRPr>
          </a:p>
          <a:p>
            <a:pPr marL="457200" lvl="0" indent="-342900" algn="just" rtl="0">
              <a:lnSpc>
                <a:spcPct val="100000"/>
              </a:lnSpc>
              <a:spcBef>
                <a:spcPts val="0"/>
              </a:spcBef>
              <a:spcAft>
                <a:spcPts val="0"/>
              </a:spcAft>
              <a:buClr>
                <a:srgbClr val="001A36"/>
              </a:buClr>
              <a:buSzPts val="1800"/>
              <a:buChar char="⬥"/>
            </a:pPr>
            <a:r>
              <a:rPr lang="en-US" sz="1800" dirty="0">
                <a:solidFill>
                  <a:srgbClr val="001A36"/>
                </a:solidFill>
              </a:rPr>
              <a:t>But we cannot just depend on temperature to detect fire as the temperature of a region also may increase due to sunlight. So we can also check the concentration of CO, CO2 gases in that region to detect the fire. But CO, CO2 gases can also be generated when someone uses the cigarette in that region so it may give false alarm, i.e., false fire event detection. </a:t>
            </a:r>
          </a:p>
          <a:p>
            <a:pPr marL="457200" lvl="0" indent="-342900" algn="just" rtl="0">
              <a:lnSpc>
                <a:spcPct val="100000"/>
              </a:lnSpc>
              <a:spcBef>
                <a:spcPts val="0"/>
              </a:spcBef>
              <a:spcAft>
                <a:spcPts val="0"/>
              </a:spcAft>
              <a:buClr>
                <a:srgbClr val="001A36"/>
              </a:buClr>
              <a:buSzPts val="1800"/>
              <a:buChar char="⬥"/>
            </a:pPr>
            <a:endParaRPr sz="1800" dirty="0">
              <a:solidFill>
                <a:srgbClr val="001A36"/>
              </a:solidFill>
            </a:endParaRPr>
          </a:p>
          <a:p>
            <a:pPr marL="457200" lvl="0" indent="-342900" algn="just" rtl="0">
              <a:lnSpc>
                <a:spcPct val="100000"/>
              </a:lnSpc>
              <a:spcBef>
                <a:spcPts val="0"/>
              </a:spcBef>
              <a:spcAft>
                <a:spcPts val="0"/>
              </a:spcAft>
              <a:buClr>
                <a:srgbClr val="001A36"/>
              </a:buClr>
              <a:buSzPts val="1800"/>
              <a:buChar char="⬥"/>
            </a:pPr>
            <a:r>
              <a:rPr lang="en-US" sz="1800" dirty="0">
                <a:solidFill>
                  <a:srgbClr val="001A36"/>
                </a:solidFill>
              </a:rPr>
              <a:t>To increase the accuracy in predicting fire events, we will use various ML algorithms to check if there is fire or not. We will also train the machine and test by providing custom input whether there is fire or not. We will also calculate the accuracy, recall, and precision of these ML Algorithms. Hence we can save our environment ,animals and livelihood from the adverse results of forest fires.</a:t>
            </a:r>
            <a:endParaRPr sz="3800" dirty="0">
              <a:solidFill>
                <a:srgbClr val="001A3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11aae61f751_0_582"/>
          <p:cNvSpPr txBox="1">
            <a:spLocks noGrp="1"/>
          </p:cNvSpPr>
          <p:nvPr>
            <p:ph type="title"/>
          </p:nvPr>
        </p:nvSpPr>
        <p:spPr>
          <a:xfrm>
            <a:off x="1828800" y="533400"/>
            <a:ext cx="9838200" cy="1143000"/>
          </a:xfrm>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latin typeface="+mn-lt"/>
              </a:rPr>
              <a:t>Requirements of Project</a:t>
            </a:r>
            <a:endParaRPr>
              <a:latin typeface="+mn-lt"/>
            </a:endParaRPr>
          </a:p>
        </p:txBody>
      </p:sp>
      <p:sp>
        <p:nvSpPr>
          <p:cNvPr id="315" name="Google Shape;315;g11aae61f751_0_582"/>
          <p:cNvSpPr txBox="1"/>
          <p:nvPr/>
        </p:nvSpPr>
        <p:spPr>
          <a:xfrm>
            <a:off x="1263125" y="2107150"/>
            <a:ext cx="2346000" cy="492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rgbClr val="001A36"/>
              </a:buClr>
              <a:buSzPts val="2000"/>
              <a:buFont typeface="Times New Roman"/>
              <a:buChar char="➢"/>
            </a:pPr>
            <a:r>
              <a:rPr lang="en-US" sz="2000" b="1" i="0" u="none" strike="noStrike" cap="none">
                <a:solidFill>
                  <a:srgbClr val="001A36"/>
                </a:solidFill>
                <a:ea typeface="Times New Roman"/>
                <a:cs typeface="Times New Roman"/>
                <a:sym typeface="Times New Roman"/>
              </a:rPr>
              <a:t>HARDWARE:</a:t>
            </a:r>
            <a:endParaRPr sz="2000" b="1" i="0" u="none" strike="noStrike" cap="none">
              <a:solidFill>
                <a:srgbClr val="000000"/>
              </a:solidFill>
              <a:ea typeface="Times New Roman"/>
              <a:cs typeface="Times New Roman"/>
              <a:sym typeface="Times New Roman"/>
            </a:endParaRPr>
          </a:p>
        </p:txBody>
      </p:sp>
      <p:sp>
        <p:nvSpPr>
          <p:cNvPr id="316" name="Google Shape;316;g11aae61f751_0_582"/>
          <p:cNvSpPr txBox="1"/>
          <p:nvPr/>
        </p:nvSpPr>
        <p:spPr>
          <a:xfrm>
            <a:off x="1277625" y="3874600"/>
            <a:ext cx="2498400" cy="492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rgbClr val="001A36"/>
              </a:buClr>
              <a:buSzPts val="2000"/>
              <a:buFont typeface="Times New Roman"/>
              <a:buChar char="➢"/>
            </a:pPr>
            <a:r>
              <a:rPr lang="en-US" sz="2000" b="1" i="0" u="none" strike="noStrike" cap="none">
                <a:solidFill>
                  <a:srgbClr val="001A36"/>
                </a:solidFill>
                <a:ea typeface="Times New Roman"/>
                <a:cs typeface="Times New Roman"/>
                <a:sym typeface="Times New Roman"/>
              </a:rPr>
              <a:t>SOFTWARE:</a:t>
            </a:r>
            <a:endParaRPr sz="2000" b="1" i="0" u="none" strike="noStrike" cap="none">
              <a:solidFill>
                <a:srgbClr val="000000"/>
              </a:solidFill>
              <a:ea typeface="Times New Roman"/>
              <a:cs typeface="Times New Roman"/>
              <a:sym typeface="Times New Roman"/>
            </a:endParaRPr>
          </a:p>
        </p:txBody>
      </p:sp>
      <p:sp>
        <p:nvSpPr>
          <p:cNvPr id="317" name="Google Shape;317;g11aae61f751_0_582"/>
          <p:cNvSpPr txBox="1"/>
          <p:nvPr/>
        </p:nvSpPr>
        <p:spPr>
          <a:xfrm>
            <a:off x="1658625" y="2453000"/>
            <a:ext cx="3896700" cy="1246465"/>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Processor Above: 1.5Ghz</a:t>
            </a:r>
            <a:endParaRPr sz="2000" b="0" i="0" u="none" strike="noStrike" cap="none" dirty="0">
              <a:solidFill>
                <a:srgbClr val="001A36"/>
              </a:solidFill>
              <a:ea typeface="Times New Roman"/>
              <a:cs typeface="Times New Roman"/>
              <a:sym typeface="Times New Roman"/>
            </a:endParaRPr>
          </a:p>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Hardware Disk: 80GB</a:t>
            </a:r>
            <a:endParaRPr sz="2000" b="0" i="0" u="none" strike="noStrike" cap="none" dirty="0">
              <a:solidFill>
                <a:srgbClr val="001A36"/>
              </a:solidFill>
              <a:ea typeface="Times New Roman"/>
              <a:cs typeface="Times New Roman"/>
              <a:sym typeface="Times New Roman"/>
            </a:endParaRPr>
          </a:p>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RAM: 2GB</a:t>
            </a:r>
            <a:endParaRPr sz="2000" b="0" i="0" u="none" strike="noStrike" cap="none" dirty="0">
              <a:solidFill>
                <a:srgbClr val="001A36"/>
              </a:solidFill>
              <a:ea typeface="Times New Roman"/>
              <a:cs typeface="Times New Roman"/>
              <a:sym typeface="Times New Roman"/>
            </a:endParaRPr>
          </a:p>
        </p:txBody>
      </p:sp>
      <p:sp>
        <p:nvSpPr>
          <p:cNvPr id="318" name="Google Shape;318;g11aae61f751_0_582"/>
          <p:cNvSpPr txBox="1"/>
          <p:nvPr/>
        </p:nvSpPr>
        <p:spPr>
          <a:xfrm>
            <a:off x="1643449" y="4228875"/>
            <a:ext cx="6232190" cy="1246465"/>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OS: Windows 7,8, 10</a:t>
            </a:r>
            <a:endParaRPr sz="2000" b="0" i="0" u="none" strike="noStrike" cap="none" dirty="0">
              <a:solidFill>
                <a:srgbClr val="001A36"/>
              </a:solidFill>
              <a:ea typeface="Times New Roman"/>
              <a:cs typeface="Times New Roman"/>
              <a:sym typeface="Times New Roman"/>
            </a:endParaRPr>
          </a:p>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Language: Python</a:t>
            </a:r>
            <a:endParaRPr sz="2000" b="0" i="0" u="none" strike="noStrike" cap="none" dirty="0">
              <a:solidFill>
                <a:srgbClr val="001A36"/>
              </a:solidFill>
              <a:ea typeface="Times New Roman"/>
              <a:cs typeface="Times New Roman"/>
              <a:sym typeface="Times New Roman"/>
            </a:endParaRPr>
          </a:p>
          <a:p>
            <a:pPr marL="457200" marR="0" lvl="0" indent="-355600" algn="l" rtl="0">
              <a:lnSpc>
                <a:spcPct val="115000"/>
              </a:lnSpc>
              <a:spcBef>
                <a:spcPts val="0"/>
              </a:spcBef>
              <a:spcAft>
                <a:spcPts val="0"/>
              </a:spcAft>
              <a:buClr>
                <a:srgbClr val="001A36"/>
              </a:buClr>
              <a:buSzPts val="2000"/>
              <a:buFont typeface="Times New Roman"/>
              <a:buChar char="●"/>
            </a:pPr>
            <a:r>
              <a:rPr lang="en-US" sz="2000" b="0" i="0" u="none" strike="noStrike" cap="none" dirty="0">
                <a:solidFill>
                  <a:srgbClr val="001A36"/>
                </a:solidFill>
                <a:ea typeface="Times New Roman"/>
                <a:cs typeface="Times New Roman"/>
                <a:sym typeface="Times New Roman"/>
              </a:rPr>
              <a:t>IDE: </a:t>
            </a:r>
            <a:r>
              <a:rPr lang="en-US" sz="2000" dirty="0">
                <a:solidFill>
                  <a:srgbClr val="001A36"/>
                </a:solidFill>
                <a:ea typeface="Times New Roman"/>
                <a:cs typeface="Times New Roman"/>
                <a:sym typeface="Times New Roman"/>
              </a:rPr>
              <a:t>Jupyter Notebook ,Google </a:t>
            </a:r>
            <a:r>
              <a:rPr lang="en-US" sz="2000" b="0" i="0" u="none" strike="noStrike" cap="none" dirty="0">
                <a:solidFill>
                  <a:srgbClr val="001A36"/>
                </a:solidFill>
                <a:ea typeface="Times New Roman"/>
                <a:cs typeface="Times New Roman"/>
                <a:sym typeface="Times New Roman"/>
              </a:rPr>
              <a:t>Colab (by Google)</a:t>
            </a:r>
            <a:endParaRPr sz="2000" b="0" i="0" u="none" strike="noStrike" cap="none" dirty="0">
              <a:solidFill>
                <a:srgbClr val="001A36"/>
              </a:solidFill>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sz="3600" dirty="0"/>
              <a:t>Literature Survey</a:t>
            </a:r>
            <a:endParaRPr dirty="0"/>
          </a:p>
        </p:txBody>
      </p:sp>
      <p:sp>
        <p:nvSpPr>
          <p:cNvPr id="324" name="Google Shape;324;p5"/>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0" marR="135890" lvl="0" indent="0" algn="just" rtl="0">
              <a:lnSpc>
                <a:spcPct val="150000"/>
              </a:lnSpc>
              <a:spcBef>
                <a:spcPts val="790"/>
              </a:spcBef>
              <a:spcAft>
                <a:spcPts val="0"/>
              </a:spcAft>
              <a:buSzPts val="1800"/>
              <a:buNone/>
            </a:pPr>
            <a:r>
              <a:rPr lang="en-US" sz="1800" dirty="0">
                <a:solidFill>
                  <a:srgbClr val="000000"/>
                </a:solidFill>
              </a:rPr>
              <a:t>CNN has been proposed for the detecting the fire occurrence in different systems . The projected model uses advanced countenance transform and order  calculations  through  deep  education  and  the convolutional affecting animate nerve organs arrangements (CNN) which will boost the dwellings smoke alarm performance and eradicate annoyance alarm sketches.</a:t>
            </a:r>
            <a:endParaRPr sz="1800" dirty="0">
              <a:solidFill>
                <a:srgbClr val="000000"/>
              </a:solidFill>
            </a:endParaRPr>
          </a:p>
          <a:p>
            <a:pPr marL="0" marR="135890" lvl="0" indent="0" algn="just" rtl="0">
              <a:lnSpc>
                <a:spcPct val="150000"/>
              </a:lnSpc>
              <a:spcBef>
                <a:spcPts val="0"/>
              </a:spcBef>
              <a:spcAft>
                <a:spcPts val="0"/>
              </a:spcAft>
              <a:buSzPts val="1800"/>
              <a:buNone/>
            </a:pPr>
            <a:endParaRPr sz="1800" dirty="0">
              <a:solidFill>
                <a:srgbClr val="000000"/>
              </a:solidFill>
            </a:endParaRPr>
          </a:p>
          <a:p>
            <a:pPr marL="0" marR="135890" lvl="0" indent="0" algn="just" rtl="0">
              <a:lnSpc>
                <a:spcPct val="150000"/>
              </a:lnSpc>
              <a:spcBef>
                <a:spcPts val="0"/>
              </a:spcBef>
              <a:spcAft>
                <a:spcPts val="0"/>
              </a:spcAft>
              <a:buSzPts val="1800"/>
              <a:buNone/>
            </a:pPr>
            <a:r>
              <a:rPr lang="en-US" sz="1800" dirty="0">
                <a:solidFill>
                  <a:srgbClr val="000000"/>
                </a:solidFill>
              </a:rPr>
              <a:t>The CNN based network has been proposed in paper , proposes use of transfer learning that is based on deep CNN approach to detect fire. It includes the use of MobileNet and pre-trained deep CNN architecture namely VGG, for development of fire detection system. These deep CNN models are trained on imbalanced datasets to impersonate optimal situations. </a:t>
            </a:r>
            <a:endParaRPr sz="1300" dirty="0">
              <a:solidFill>
                <a:srgbClr val="000000"/>
              </a:solidFill>
              <a:latin typeface="Arial"/>
              <a:ea typeface="Arial"/>
              <a:cs typeface="Arial"/>
              <a:sym typeface="Arial"/>
            </a:endParaRPr>
          </a:p>
          <a:p>
            <a:pPr marL="0" marR="135890" lvl="0" indent="0" algn="just" rtl="0">
              <a:lnSpc>
                <a:spcPct val="150000"/>
              </a:lnSpc>
              <a:spcBef>
                <a:spcPts val="0"/>
              </a:spcBef>
              <a:spcAft>
                <a:spcPts val="0"/>
              </a:spcAft>
              <a:buSzPts val="1800"/>
              <a:buNone/>
            </a:pPr>
            <a:endParaRPr sz="1300"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11aae61f751_0_87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sz="3600"/>
              <a:t>Comparative Analysis of Existing Works</a:t>
            </a:r>
            <a:endParaRPr/>
          </a:p>
        </p:txBody>
      </p:sp>
      <p:graphicFrame>
        <p:nvGraphicFramePr>
          <p:cNvPr id="330" name="Google Shape;330;g11aae61f751_0_873"/>
          <p:cNvGraphicFramePr/>
          <p:nvPr>
            <p:extLst>
              <p:ext uri="{D42A27DB-BD31-4B8C-83A1-F6EECF244321}">
                <p14:modId xmlns:p14="http://schemas.microsoft.com/office/powerpoint/2010/main" val="3457950342"/>
              </p:ext>
            </p:extLst>
          </p:nvPr>
        </p:nvGraphicFramePr>
        <p:xfrm>
          <a:off x="581192" y="1909813"/>
          <a:ext cx="11029616" cy="4462650"/>
        </p:xfrm>
        <a:graphic>
          <a:graphicData uri="http://schemas.openxmlformats.org/drawingml/2006/table">
            <a:tbl>
              <a:tblPr>
                <a:noFill/>
                <a:tableStyleId>{7118A00F-0C98-4F87-926F-D295D357CE52}</a:tableStyleId>
              </a:tblPr>
              <a:tblGrid>
                <a:gridCol w="778051">
                  <a:extLst>
                    <a:ext uri="{9D8B030D-6E8A-4147-A177-3AD203B41FA5}">
                      <a16:colId xmlns:a16="http://schemas.microsoft.com/office/drawing/2014/main" val="20000"/>
                    </a:ext>
                  </a:extLst>
                </a:gridCol>
                <a:gridCol w="1739023">
                  <a:extLst>
                    <a:ext uri="{9D8B030D-6E8A-4147-A177-3AD203B41FA5}">
                      <a16:colId xmlns:a16="http://schemas.microsoft.com/office/drawing/2014/main" val="20001"/>
                    </a:ext>
                  </a:extLst>
                </a:gridCol>
                <a:gridCol w="1501230">
                  <a:extLst>
                    <a:ext uri="{9D8B030D-6E8A-4147-A177-3AD203B41FA5}">
                      <a16:colId xmlns:a16="http://schemas.microsoft.com/office/drawing/2014/main" val="20002"/>
                    </a:ext>
                  </a:extLst>
                </a:gridCol>
                <a:gridCol w="1335872">
                  <a:extLst>
                    <a:ext uri="{9D8B030D-6E8A-4147-A177-3AD203B41FA5}">
                      <a16:colId xmlns:a16="http://schemas.microsoft.com/office/drawing/2014/main" val="20003"/>
                    </a:ext>
                  </a:extLst>
                </a:gridCol>
                <a:gridCol w="3608464">
                  <a:extLst>
                    <a:ext uri="{9D8B030D-6E8A-4147-A177-3AD203B41FA5}">
                      <a16:colId xmlns:a16="http://schemas.microsoft.com/office/drawing/2014/main" val="20004"/>
                    </a:ext>
                  </a:extLst>
                </a:gridCol>
                <a:gridCol w="2066976">
                  <a:extLst>
                    <a:ext uri="{9D8B030D-6E8A-4147-A177-3AD203B41FA5}">
                      <a16:colId xmlns:a16="http://schemas.microsoft.com/office/drawing/2014/main" val="20005"/>
                    </a:ext>
                  </a:extLst>
                </a:gridCol>
              </a:tblGrid>
              <a:tr h="700100">
                <a:tc>
                  <a:txBody>
                    <a:bodyPr/>
                    <a:lstStyle/>
                    <a:p>
                      <a:pPr marL="0" marR="0" lvl="0" indent="0" algn="l"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S.No.</a:t>
                      </a:r>
                      <a:endParaRPr sz="1700" b="1" u="none" strike="noStrike" cap="none" dirty="0">
                        <a:solidFill>
                          <a:schemeClr val="bg1"/>
                        </a:solidFill>
                        <a:latin typeface="+mn-lt"/>
                        <a:ea typeface="Times New Roman"/>
                        <a:cs typeface="Times New Roman"/>
                        <a:sym typeface="Times New Roman"/>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TITLE</a:t>
                      </a:r>
                      <a:endParaRPr sz="1400" u="none" strike="noStrike" cap="none" dirty="0">
                        <a:solidFill>
                          <a:schemeClr val="bg1"/>
                        </a:solidFill>
                        <a:latin typeface="+mn-l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AUTHOR</a:t>
                      </a:r>
                      <a:endParaRPr sz="1400" u="none" strike="noStrike" cap="none" dirty="0">
                        <a:solidFill>
                          <a:schemeClr val="bg1"/>
                        </a:solidFill>
                        <a:latin typeface="+mn-l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YEAR</a:t>
                      </a:r>
                      <a:endParaRPr sz="1400" u="none" strike="noStrike" cap="none" dirty="0">
                        <a:solidFill>
                          <a:schemeClr val="bg1"/>
                        </a:solidFill>
                        <a:latin typeface="+mn-l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DESCRIPTION</a:t>
                      </a:r>
                      <a:endParaRPr sz="1400" u="none" strike="noStrike" cap="none" dirty="0">
                        <a:solidFill>
                          <a:schemeClr val="bg1"/>
                        </a:solidFill>
                        <a:latin typeface="+mn-l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b="1" u="none" strike="noStrike" cap="none" dirty="0">
                          <a:solidFill>
                            <a:schemeClr val="bg1"/>
                          </a:solidFill>
                          <a:latin typeface="+mn-lt"/>
                          <a:ea typeface="Times New Roman"/>
                          <a:cs typeface="Times New Roman"/>
                          <a:sym typeface="Times New Roman"/>
                        </a:rPr>
                        <a:t>LIMITATION</a:t>
                      </a:r>
                      <a:endParaRPr sz="1400" u="none" strike="noStrike" cap="none" dirty="0">
                        <a:solidFill>
                          <a:schemeClr val="bg1"/>
                        </a:solidFill>
                        <a:latin typeface="+mn-l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62550">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latin typeface="+mn-lt"/>
                        </a:rPr>
                        <a:t>1.</a:t>
                      </a: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latin typeface="+mn-lt"/>
                      </a:endParaRPr>
                    </a:p>
                    <a:p>
                      <a:pPr marL="0" marR="0" lvl="0" indent="0" algn="l" rtl="0">
                        <a:lnSpc>
                          <a:spcPct val="100000"/>
                        </a:lnSpc>
                        <a:spcBef>
                          <a:spcPts val="0"/>
                        </a:spcBef>
                        <a:spcAft>
                          <a:spcPts val="0"/>
                        </a:spcAft>
                        <a:buClr>
                          <a:srgbClr val="000000"/>
                        </a:buClr>
                        <a:buSzPts val="2100"/>
                        <a:buFont typeface="Arial"/>
                        <a:buNone/>
                      </a:pPr>
                      <a:endParaRPr sz="2100" u="none" strike="noStrike" cap="none" dirty="0">
                        <a:latin typeface="+mn-lt"/>
                      </a:endParaRPr>
                    </a:p>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latin typeface="+mn-lt"/>
                        </a:rPr>
                        <a:t>2.</a:t>
                      </a:r>
                      <a:endParaRPr sz="1500" u="none" strike="noStrike" cap="none" dirty="0">
                        <a:latin typeface="+mn-l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A New Approach for Event Detection using k -means Clustering and Neural Network</a:t>
                      </a:r>
                      <a:r>
                        <a:rPr lang="en-US" sz="1500" i="1" u="none" strike="noStrike" cap="none" dirty="0">
                          <a:solidFill>
                            <a:srgbClr val="001A36"/>
                          </a:solidFill>
                          <a:latin typeface="+mn-lt"/>
                          <a:ea typeface="Times New Roman"/>
                          <a:cs typeface="Times New Roman"/>
                          <a:sym typeface="Times New Roman"/>
                        </a:rPr>
                        <a:t>s</a:t>
                      </a:r>
                      <a:endParaRPr sz="1500" i="1"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endParaRPr sz="1500" i="1"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endParaRPr sz="1500" i="1"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Use of AI Techniques for Residential Fire</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Detection.</a:t>
                      </a:r>
                      <a:endParaRPr sz="1300" i="1" u="none" strike="noStrike" cap="none" dirty="0">
                        <a:solidFill>
                          <a:schemeClr val="dk2"/>
                        </a:solidFill>
                        <a:latin typeface="+mn-lt"/>
                        <a:ea typeface="Times New Roman"/>
                        <a:cs typeface="Times New Roman"/>
                        <a:sym typeface="Times New Roman"/>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M. O. Oladimeji, M. G. </a:t>
                      </a:r>
                      <a:r>
                        <a:rPr lang="en-US" sz="1500" u="none" strike="noStrike" cap="none" dirty="0" err="1">
                          <a:solidFill>
                            <a:srgbClr val="001A36"/>
                          </a:solidFill>
                          <a:latin typeface="+mn-lt"/>
                          <a:ea typeface="Times New Roman"/>
                          <a:cs typeface="Times New Roman"/>
                          <a:sym typeface="Times New Roman"/>
                        </a:rPr>
                        <a:t>Smiee</a:t>
                      </a:r>
                      <a:r>
                        <a:rPr lang="en-US" sz="1500" u="none" strike="noStrike" cap="none" dirty="0">
                          <a:solidFill>
                            <a:srgbClr val="001A36"/>
                          </a:solidFill>
                          <a:latin typeface="+mn-lt"/>
                          <a:ea typeface="Times New Roman"/>
                          <a:cs typeface="Times New Roman"/>
                          <a:sym typeface="Times New Roman"/>
                        </a:rPr>
                        <a:t> and S. D. </a:t>
                      </a:r>
                      <a:r>
                        <a:rPr lang="en-US" sz="1500" u="none" strike="noStrike" cap="none" dirty="0" err="1">
                          <a:solidFill>
                            <a:srgbClr val="001A36"/>
                          </a:solidFill>
                          <a:latin typeface="+mn-lt"/>
                          <a:ea typeface="Times New Roman"/>
                          <a:cs typeface="Times New Roman"/>
                          <a:sym typeface="Times New Roman"/>
                        </a:rPr>
                        <a:t>Mieee</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300"/>
                        <a:buFont typeface="Arial"/>
                        <a:buNone/>
                      </a:pPr>
                      <a:endParaRPr sz="13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endParaRPr lang="en-US"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M </a:t>
                      </a:r>
                      <a:r>
                        <a:rPr lang="en-US" sz="1500" u="none" strike="noStrike" cap="none" dirty="0" err="1">
                          <a:solidFill>
                            <a:srgbClr val="001A36"/>
                          </a:solidFill>
                          <a:latin typeface="+mn-lt"/>
                          <a:ea typeface="Times New Roman"/>
                          <a:cs typeface="Times New Roman"/>
                          <a:sym typeface="Times New Roman"/>
                        </a:rPr>
                        <a:t>Bahrepour</a:t>
                      </a:r>
                      <a:r>
                        <a:rPr lang="en-US" sz="1500" u="none" strike="noStrike" cap="none" dirty="0">
                          <a:solidFill>
                            <a:srgbClr val="001A36"/>
                          </a:solidFill>
                          <a:latin typeface="+mn-lt"/>
                          <a:ea typeface="Times New Roman"/>
                          <a:cs typeface="Times New Roman"/>
                          <a:sym typeface="Times New Roman"/>
                        </a:rPr>
                        <a:t>,</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N. </a:t>
                      </a:r>
                      <a:r>
                        <a:rPr lang="en-US" sz="1500" u="none" strike="noStrike" cap="none" dirty="0" err="1">
                          <a:solidFill>
                            <a:srgbClr val="001A36"/>
                          </a:solidFill>
                          <a:latin typeface="+mn-lt"/>
                          <a:ea typeface="Times New Roman"/>
                          <a:cs typeface="Times New Roman"/>
                          <a:sym typeface="Times New Roman"/>
                        </a:rPr>
                        <a:t>Meratnia</a:t>
                      </a:r>
                      <a:r>
                        <a:rPr lang="en-US" sz="1500" u="none" strike="noStrike" cap="none" dirty="0">
                          <a:solidFill>
                            <a:srgbClr val="001A36"/>
                          </a:solidFill>
                          <a:latin typeface="+mn-lt"/>
                          <a:ea typeface="Times New Roman"/>
                          <a:cs typeface="Times New Roman"/>
                          <a:sym typeface="Times New Roman"/>
                        </a:rPr>
                        <a:t> &amp;  </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15000"/>
                        </a:lnSpc>
                        <a:spcBef>
                          <a:spcPts val="20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P.J.M </a:t>
                      </a:r>
                      <a:r>
                        <a:rPr lang="en-US" sz="1500" u="none" strike="noStrike" cap="none" dirty="0" err="1">
                          <a:solidFill>
                            <a:srgbClr val="001A36"/>
                          </a:solidFill>
                          <a:latin typeface="+mn-lt"/>
                          <a:ea typeface="Times New Roman"/>
                          <a:cs typeface="Times New Roman"/>
                          <a:sym typeface="Times New Roman"/>
                        </a:rPr>
                        <a:t>Havinga</a:t>
                      </a:r>
                      <a:endParaRPr sz="1500" u="none" strike="noStrike" cap="none" dirty="0">
                        <a:solidFill>
                          <a:srgbClr val="001A36"/>
                        </a:solidFill>
                        <a:latin typeface="+mn-lt"/>
                        <a:ea typeface="Times New Roman"/>
                        <a:cs typeface="Times New Roman"/>
                        <a:sym typeface="Times New Roman"/>
                      </a:endParaRPr>
                    </a:p>
                    <a:p>
                      <a:pPr marL="0" marR="650621" lvl="0" indent="0" algn="l" rtl="0">
                        <a:lnSpc>
                          <a:spcPct val="145774"/>
                        </a:lnSpc>
                        <a:spcBef>
                          <a:spcPts val="1985"/>
                        </a:spcBef>
                        <a:spcAft>
                          <a:spcPts val="0"/>
                        </a:spcAft>
                        <a:buClr>
                          <a:srgbClr val="000000"/>
                        </a:buClr>
                        <a:buSzPts val="900"/>
                        <a:buFont typeface="Arial"/>
                        <a:buNone/>
                      </a:pPr>
                      <a:endParaRPr sz="900" u="none" strike="noStrike" cap="none" dirty="0">
                        <a:solidFill>
                          <a:srgbClr val="001A36"/>
                        </a:solidFill>
                        <a:latin typeface="+mn-lt"/>
                        <a:ea typeface="Times New Roman"/>
                        <a:cs typeface="Times New Roman"/>
                        <a:sym typeface="Times New Roman"/>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F3F3"/>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2015 Conference Paper</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0"/>
                        <a:buFont typeface="Arial"/>
                        <a:buNone/>
                      </a:pPr>
                      <a:endParaRPr sz="6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solidFill>
                            <a:srgbClr val="001A36"/>
                          </a:solidFill>
                          <a:latin typeface="+mn-lt"/>
                          <a:ea typeface="Times New Roman"/>
                          <a:cs typeface="Times New Roman"/>
                          <a:sym typeface="Times New Roman"/>
                        </a:rPr>
                        <a:t>AIAI 2009</a:t>
                      </a:r>
                      <a:endParaRPr sz="16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solidFill>
                            <a:srgbClr val="001A36"/>
                          </a:solidFill>
                          <a:latin typeface="+mn-lt"/>
                          <a:ea typeface="Times New Roman"/>
                          <a:cs typeface="Times New Roman"/>
                          <a:sym typeface="Times New Roman"/>
                        </a:rPr>
                        <a:t>(Journal)</a:t>
                      </a:r>
                      <a:endParaRPr sz="1600" u="none" strike="noStrike" cap="none" dirty="0">
                        <a:solidFill>
                          <a:srgbClr val="001A36"/>
                        </a:solidFill>
                        <a:latin typeface="+mn-lt"/>
                        <a:ea typeface="Times New Roman"/>
                        <a:cs typeface="Times New Roman"/>
                        <a:sym typeface="Times New Roman"/>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We study the event detection problem using convolutional neural networks (CNNs) that overcome the two fundamental limitations of the traditional feature-based approaches the complicated feature engineering for rich feature sets.</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900"/>
                        <a:buFont typeface="Arial"/>
                        <a:buNone/>
                      </a:pPr>
                      <a:endParaRPr sz="19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Early residential fire detection is important</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for prompt extinguishing and reducing damages and life losses. To detect fire, one or a combination of data-sets algorithms and sensors needed.  </a:t>
                      </a:r>
                      <a:r>
                        <a:rPr lang="en-US" sz="1200" u="none" strike="noStrike" cap="none" dirty="0">
                          <a:solidFill>
                            <a:srgbClr val="001A36"/>
                          </a:solidFill>
                          <a:highlight>
                            <a:srgbClr val="FFFFFF"/>
                          </a:highlight>
                          <a:latin typeface="+mn-lt"/>
                        </a:rPr>
                        <a:t> </a:t>
                      </a:r>
                      <a:endParaRPr sz="1500" u="none" strike="noStrike" cap="none" dirty="0">
                        <a:solidFill>
                          <a:srgbClr val="001A36"/>
                        </a:solidFill>
                        <a:latin typeface="+mn-lt"/>
                        <a:ea typeface="Times New Roman"/>
                        <a:cs typeface="Times New Roman"/>
                        <a:sym typeface="Times New Roman"/>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Error propagation from the preceding stages which generate these features.</a:t>
                      </a: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15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rgbClr val="001A36"/>
                        </a:solidFill>
                        <a:latin typeface="+mn-lt"/>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r>
                        <a:rPr lang="en-US" sz="1500" u="none" strike="noStrike" cap="none" dirty="0">
                          <a:solidFill>
                            <a:srgbClr val="001A36"/>
                          </a:solidFill>
                          <a:latin typeface="+mn-lt"/>
                          <a:ea typeface="Times New Roman"/>
                          <a:cs typeface="Times New Roman"/>
                          <a:sym typeface="Times New Roman"/>
                        </a:rPr>
                        <a:t>Complicated feature engineering for rich feature sets.</a:t>
                      </a:r>
                      <a:endParaRPr sz="1500" u="none" strike="noStrike" cap="none" dirty="0">
                        <a:solidFill>
                          <a:srgbClr val="001A36"/>
                        </a:solidFill>
                        <a:latin typeface="+mn-lt"/>
                        <a:ea typeface="Times New Roman"/>
                        <a:cs typeface="Times New Roman"/>
                        <a:sym typeface="Times New Roman"/>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extLst>
                  <a:ext uri="{0D108BD9-81ED-4DB2-BD59-A6C34878D82A}">
                    <a16:rowId xmlns:a16="http://schemas.microsoft.com/office/drawing/2014/main" val="10001"/>
                  </a:ext>
                </a:extLst>
              </a:tr>
            </a:tbl>
          </a:graphicData>
        </a:graphic>
      </p:graphicFrame>
      <p:cxnSp>
        <p:nvCxnSpPr>
          <p:cNvPr id="331" name="Google Shape;331;g11aae61f751_0_873"/>
          <p:cNvCxnSpPr>
            <a:cxnSpLocks/>
          </p:cNvCxnSpPr>
          <p:nvPr/>
        </p:nvCxnSpPr>
        <p:spPr>
          <a:xfrm flipH="1">
            <a:off x="581192" y="4458530"/>
            <a:ext cx="11029616" cy="0"/>
          </a:xfrm>
          <a:prstGeom prst="straightConnector1">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11aae61f751_0_1162"/>
          <p:cNvSpPr txBox="1">
            <a:spLocks noGrp="1"/>
          </p:cNvSpPr>
          <p:nvPr>
            <p:ph type="title"/>
          </p:nvPr>
        </p:nvSpPr>
        <p:spPr>
          <a:xfrm>
            <a:off x="1828800" y="533400"/>
            <a:ext cx="9838200" cy="1143000"/>
          </a:xfrm>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dirty="0"/>
              <a:t>Proposed Approach</a:t>
            </a:r>
            <a:endParaRPr dirty="0"/>
          </a:p>
        </p:txBody>
      </p:sp>
      <p:sp>
        <p:nvSpPr>
          <p:cNvPr id="337" name="Google Shape;337;g11aae61f751_0_1162"/>
          <p:cNvSpPr txBox="1">
            <a:spLocks noGrp="1"/>
          </p:cNvSpPr>
          <p:nvPr>
            <p:ph idx="1"/>
          </p:nvPr>
        </p:nvSpPr>
        <p:spPr>
          <a:xfrm>
            <a:off x="523446" y="2075700"/>
            <a:ext cx="10785900" cy="42489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SzPts val="1800"/>
              <a:buNone/>
            </a:pPr>
            <a:r>
              <a:rPr lang="en-US" sz="2000" dirty="0">
                <a:solidFill>
                  <a:srgbClr val="001A36"/>
                </a:solidFill>
              </a:rPr>
              <a:t>Dataset is taken from UCI Machine Learning repository, description of dataset is described as below:</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a:solidFill>
                  <a:srgbClr val="001A36"/>
                </a:solidFill>
              </a:rPr>
              <a:t>Dataset contains image and video data.</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a:solidFill>
                  <a:srgbClr val="001A36"/>
                </a:solidFill>
              </a:rPr>
              <a:t>Image data contains test and train data in image format each having 3 class i.e., default, smoke, fire.</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err="1">
                <a:solidFill>
                  <a:srgbClr val="001A36"/>
                </a:solidFill>
              </a:rPr>
              <a:t>Test_default</a:t>
            </a:r>
            <a:r>
              <a:rPr lang="en-US" sz="2000" dirty="0">
                <a:solidFill>
                  <a:srgbClr val="001A36"/>
                </a:solidFill>
              </a:rPr>
              <a:t> has 84 images, </a:t>
            </a:r>
            <a:r>
              <a:rPr lang="en-US" sz="2000" dirty="0" err="1">
                <a:solidFill>
                  <a:srgbClr val="001A36"/>
                </a:solidFill>
              </a:rPr>
              <a:t>test_fire</a:t>
            </a:r>
            <a:r>
              <a:rPr lang="en-US" sz="2000" dirty="0">
                <a:solidFill>
                  <a:srgbClr val="001A36"/>
                </a:solidFill>
              </a:rPr>
              <a:t> has 57 images, </a:t>
            </a:r>
            <a:r>
              <a:rPr lang="en-US" sz="2000" dirty="0" err="1">
                <a:solidFill>
                  <a:srgbClr val="001A36"/>
                </a:solidFill>
              </a:rPr>
              <a:t>test_smoke</a:t>
            </a:r>
            <a:r>
              <a:rPr lang="en-US" sz="2000" dirty="0">
                <a:solidFill>
                  <a:srgbClr val="001A36"/>
                </a:solidFill>
              </a:rPr>
              <a:t> has 30 images.</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err="1">
                <a:solidFill>
                  <a:srgbClr val="001A36"/>
                </a:solidFill>
              </a:rPr>
              <a:t>Train_default</a:t>
            </a:r>
            <a:r>
              <a:rPr lang="en-US" sz="2000" dirty="0">
                <a:solidFill>
                  <a:srgbClr val="001A36"/>
                </a:solidFill>
              </a:rPr>
              <a:t> has 161 images, </a:t>
            </a:r>
            <a:r>
              <a:rPr lang="en-US" sz="2000" dirty="0" err="1">
                <a:solidFill>
                  <a:srgbClr val="001A36"/>
                </a:solidFill>
              </a:rPr>
              <a:t>train_fire</a:t>
            </a:r>
            <a:r>
              <a:rPr lang="en-US" sz="2000" dirty="0">
                <a:solidFill>
                  <a:srgbClr val="001A36"/>
                </a:solidFill>
              </a:rPr>
              <a:t> has 274 images, </a:t>
            </a:r>
            <a:r>
              <a:rPr lang="en-US" sz="2000" dirty="0" err="1">
                <a:solidFill>
                  <a:srgbClr val="001A36"/>
                </a:solidFill>
              </a:rPr>
              <a:t>train_smoke</a:t>
            </a:r>
            <a:r>
              <a:rPr lang="en-US" sz="2000" dirty="0">
                <a:solidFill>
                  <a:srgbClr val="001A36"/>
                </a:solidFill>
              </a:rPr>
              <a:t> has 258 images.</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a:solidFill>
                  <a:srgbClr val="001A36"/>
                </a:solidFill>
              </a:rPr>
              <a:t>Video data contains test and train data in video format.</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err="1">
                <a:solidFill>
                  <a:srgbClr val="001A36"/>
                </a:solidFill>
              </a:rPr>
              <a:t>Test_video</a:t>
            </a:r>
            <a:r>
              <a:rPr lang="en-US" sz="2000" dirty="0">
                <a:solidFill>
                  <a:srgbClr val="001A36"/>
                </a:solidFill>
              </a:rPr>
              <a:t> contains 3 videos.</a:t>
            </a:r>
            <a:endParaRPr sz="2000" dirty="0">
              <a:solidFill>
                <a:srgbClr val="001A36"/>
              </a:solidFill>
            </a:endParaRPr>
          </a:p>
          <a:p>
            <a:pPr marL="457200" lvl="0" indent="-355600" algn="just" rtl="0">
              <a:lnSpc>
                <a:spcPct val="150000"/>
              </a:lnSpc>
              <a:spcBef>
                <a:spcPts val="0"/>
              </a:spcBef>
              <a:spcAft>
                <a:spcPts val="0"/>
              </a:spcAft>
              <a:buClr>
                <a:srgbClr val="001A36"/>
              </a:buClr>
              <a:buSzPts val="2000"/>
              <a:buFont typeface="Times New Roman"/>
              <a:buChar char="●"/>
            </a:pPr>
            <a:r>
              <a:rPr lang="en-US" sz="2000" dirty="0" err="1">
                <a:solidFill>
                  <a:srgbClr val="001A36"/>
                </a:solidFill>
              </a:rPr>
              <a:t>Train_video</a:t>
            </a:r>
            <a:r>
              <a:rPr lang="en-US" sz="2000" dirty="0">
                <a:solidFill>
                  <a:srgbClr val="001A36"/>
                </a:solidFill>
              </a:rPr>
              <a:t> contains 12 videos consisting of fire with smoke, only fire, only smoke, no fire videos.</a:t>
            </a:r>
            <a:endParaRPr sz="2000" dirty="0">
              <a:solidFill>
                <a:srgbClr val="001A36"/>
              </a:solidFill>
            </a:endParaRPr>
          </a:p>
          <a:p>
            <a:pPr marL="0" lvl="0" indent="0" algn="just" rtl="0">
              <a:lnSpc>
                <a:spcPct val="150000"/>
              </a:lnSpc>
              <a:spcBef>
                <a:spcPts val="0"/>
              </a:spcBef>
              <a:spcAft>
                <a:spcPts val="0"/>
              </a:spcAft>
              <a:buSzPts val="1800"/>
              <a:buNone/>
            </a:pPr>
            <a:endParaRPr sz="2000" dirty="0">
              <a:solidFill>
                <a:srgbClr val="001A3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11aae61f751_0_145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latin typeface="+mn-lt"/>
              </a:rPr>
              <a:t>Project Design/Model</a:t>
            </a:r>
            <a:endParaRPr>
              <a:latin typeface="+mn-lt"/>
            </a:endParaRPr>
          </a:p>
        </p:txBody>
      </p:sp>
      <p:pic>
        <p:nvPicPr>
          <p:cNvPr id="343" name="Google Shape;343;g11aae61f751_0_1452"/>
          <p:cNvPicPr preferRelativeResize="0"/>
          <p:nvPr/>
        </p:nvPicPr>
        <p:blipFill rotWithShape="1">
          <a:blip r:embed="rId3">
            <a:alphaModFix/>
          </a:blip>
          <a:srcRect/>
          <a:stretch/>
        </p:blipFill>
        <p:spPr>
          <a:xfrm>
            <a:off x="458075" y="2239626"/>
            <a:ext cx="8374474" cy="3661225"/>
          </a:xfrm>
          <a:prstGeom prst="rect">
            <a:avLst/>
          </a:prstGeom>
          <a:noFill/>
          <a:ln>
            <a:noFill/>
          </a:ln>
        </p:spPr>
      </p:pic>
      <p:sp>
        <p:nvSpPr>
          <p:cNvPr id="344" name="Google Shape;344;g11aae61f751_0_1452"/>
          <p:cNvSpPr txBox="1"/>
          <p:nvPr/>
        </p:nvSpPr>
        <p:spPr>
          <a:xfrm>
            <a:off x="3248299" y="5985179"/>
            <a:ext cx="2687779" cy="6463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0" i="0" u="sng" strike="noStrike" cap="none" dirty="0">
                <a:solidFill>
                  <a:srgbClr val="001A36"/>
                </a:solidFill>
                <a:ea typeface="Times New Roman"/>
                <a:cs typeface="Times New Roman"/>
                <a:sym typeface="Times New Roman"/>
              </a:rPr>
              <a:t>Workflow of  Project</a:t>
            </a:r>
            <a:endParaRPr sz="1400" b="0" i="0" u="sng" strike="noStrike" cap="none" dirty="0">
              <a:solidFill>
                <a:srgbClr val="000000"/>
              </a:solidFill>
              <a:ea typeface="Arial"/>
              <a:cs typeface="Arial"/>
              <a:sym typeface="Arial"/>
            </a:endParaRPr>
          </a:p>
        </p:txBody>
      </p:sp>
      <p:sp>
        <p:nvSpPr>
          <p:cNvPr id="345" name="Google Shape;345;g11aae61f751_0_1452"/>
          <p:cNvSpPr txBox="1"/>
          <p:nvPr/>
        </p:nvSpPr>
        <p:spPr>
          <a:xfrm>
            <a:off x="8943702" y="1829903"/>
            <a:ext cx="3359400" cy="4620722"/>
          </a:xfrm>
          <a:prstGeom prst="rect">
            <a:avLst/>
          </a:prstGeom>
          <a:noFill/>
          <a:ln>
            <a:noFill/>
          </a:ln>
        </p:spPr>
        <p:txBody>
          <a:bodyPr spcFirstLastPara="1" wrap="square" lIns="91425" tIns="91425" rIns="91425" bIns="91425" anchor="t" anchorCtr="0">
            <a:spAutoFit/>
          </a:bodyPr>
          <a:lstStyle/>
          <a:p>
            <a:pPr marL="749300" marR="0" lvl="0" indent="-323850" algn="l" rtl="0">
              <a:lnSpc>
                <a:spcPct val="218181"/>
              </a:lnSpc>
              <a:spcBef>
                <a:spcPts val="3200"/>
              </a:spcBef>
              <a:spcAft>
                <a:spcPts val="0"/>
              </a:spcAft>
              <a:buClr>
                <a:srgbClr val="292929"/>
              </a:buClr>
              <a:buSzPts val="1500"/>
              <a:buFont typeface="Arial"/>
              <a:buAutoNum type="arabicPeriod"/>
            </a:pPr>
            <a:r>
              <a:rPr lang="en-US" sz="1500" b="1" i="0" u="none" strike="noStrike" cap="none" dirty="0">
                <a:solidFill>
                  <a:srgbClr val="292929"/>
                </a:solidFill>
                <a:highlight>
                  <a:srgbClr val="FFFFFF"/>
                </a:highlight>
                <a:ea typeface="Arial"/>
                <a:cs typeface="Arial"/>
                <a:sym typeface="Arial"/>
              </a:rPr>
              <a:t>Gathering data</a:t>
            </a:r>
            <a:endParaRPr sz="1500" b="1" i="0" u="none" strike="noStrike" cap="none" dirty="0">
              <a:solidFill>
                <a:srgbClr val="292929"/>
              </a:solidFill>
              <a:highlight>
                <a:srgbClr val="FFFFFF"/>
              </a:highlight>
              <a:ea typeface="Arial"/>
              <a:cs typeface="Arial"/>
              <a:sym typeface="Arial"/>
            </a:endParaRPr>
          </a:p>
          <a:p>
            <a:pPr marL="749300" marR="0" lvl="0" indent="-323850" algn="l" rtl="0">
              <a:lnSpc>
                <a:spcPct val="218181"/>
              </a:lnSpc>
              <a:spcBef>
                <a:spcPts val="0"/>
              </a:spcBef>
              <a:spcAft>
                <a:spcPts val="0"/>
              </a:spcAft>
              <a:buClr>
                <a:srgbClr val="292929"/>
              </a:buClr>
              <a:buSzPts val="1500"/>
              <a:buFont typeface="Arial"/>
              <a:buAutoNum type="arabicPeriod"/>
            </a:pPr>
            <a:r>
              <a:rPr lang="en-US" sz="1500" b="1" i="0" u="none" strike="noStrike" cap="none" dirty="0">
                <a:solidFill>
                  <a:srgbClr val="292929"/>
                </a:solidFill>
                <a:highlight>
                  <a:srgbClr val="FFFFFF"/>
                </a:highlight>
                <a:ea typeface="Arial"/>
                <a:cs typeface="Arial"/>
                <a:sym typeface="Arial"/>
              </a:rPr>
              <a:t>Data pre-processing</a:t>
            </a:r>
            <a:endParaRPr sz="1500" b="1" i="0" u="none" strike="noStrike" cap="none" dirty="0">
              <a:solidFill>
                <a:srgbClr val="292929"/>
              </a:solidFill>
              <a:highlight>
                <a:srgbClr val="FFFFFF"/>
              </a:highlight>
              <a:ea typeface="Arial"/>
              <a:cs typeface="Arial"/>
              <a:sym typeface="Arial"/>
            </a:endParaRPr>
          </a:p>
          <a:p>
            <a:pPr marL="749300" marR="0" lvl="0" indent="-323850" algn="l" rtl="0">
              <a:lnSpc>
                <a:spcPct val="218181"/>
              </a:lnSpc>
              <a:spcBef>
                <a:spcPts val="0"/>
              </a:spcBef>
              <a:spcAft>
                <a:spcPts val="0"/>
              </a:spcAft>
              <a:buClr>
                <a:srgbClr val="292929"/>
              </a:buClr>
              <a:buSzPts val="1500"/>
              <a:buFont typeface="Arial"/>
              <a:buAutoNum type="arabicPeriod"/>
            </a:pPr>
            <a:r>
              <a:rPr lang="en-US" sz="1500" b="1" i="0" u="none" strike="noStrike" cap="none" dirty="0">
                <a:solidFill>
                  <a:srgbClr val="292929"/>
                </a:solidFill>
                <a:highlight>
                  <a:srgbClr val="FFFFFF"/>
                </a:highlight>
                <a:ea typeface="Arial"/>
                <a:cs typeface="Arial"/>
                <a:sym typeface="Arial"/>
              </a:rPr>
              <a:t>Researching the model that will be best for the type of data</a:t>
            </a:r>
            <a:endParaRPr sz="1500" b="1" i="0" u="none" strike="noStrike" cap="none" dirty="0">
              <a:solidFill>
                <a:srgbClr val="292929"/>
              </a:solidFill>
              <a:highlight>
                <a:srgbClr val="FFFFFF"/>
              </a:highlight>
              <a:ea typeface="Arial"/>
              <a:cs typeface="Arial"/>
              <a:sym typeface="Arial"/>
            </a:endParaRPr>
          </a:p>
          <a:p>
            <a:pPr marL="749300" marR="0" lvl="0" indent="-323850" algn="l" rtl="0">
              <a:lnSpc>
                <a:spcPct val="218181"/>
              </a:lnSpc>
              <a:spcBef>
                <a:spcPts val="0"/>
              </a:spcBef>
              <a:spcAft>
                <a:spcPts val="0"/>
              </a:spcAft>
              <a:buClr>
                <a:srgbClr val="292929"/>
              </a:buClr>
              <a:buSzPts val="1500"/>
              <a:buFont typeface="Arial"/>
              <a:buAutoNum type="arabicPeriod"/>
            </a:pPr>
            <a:r>
              <a:rPr lang="en-US" sz="1500" b="1" i="0" u="none" strike="noStrike" cap="none" dirty="0">
                <a:solidFill>
                  <a:srgbClr val="292929"/>
                </a:solidFill>
                <a:highlight>
                  <a:srgbClr val="FFFFFF"/>
                </a:highlight>
                <a:ea typeface="Arial"/>
                <a:cs typeface="Arial"/>
                <a:sym typeface="Arial"/>
              </a:rPr>
              <a:t>Training and testing the model</a:t>
            </a:r>
            <a:endParaRPr sz="1500" b="1" i="0" u="none" strike="noStrike" cap="none" dirty="0">
              <a:solidFill>
                <a:srgbClr val="292929"/>
              </a:solidFill>
              <a:highlight>
                <a:srgbClr val="FFFFFF"/>
              </a:highlight>
              <a:ea typeface="Arial"/>
              <a:cs typeface="Arial"/>
              <a:sym typeface="Arial"/>
            </a:endParaRPr>
          </a:p>
          <a:p>
            <a:pPr marL="749300" marR="0" lvl="0" indent="-323850" algn="l" rtl="0">
              <a:lnSpc>
                <a:spcPct val="218181"/>
              </a:lnSpc>
              <a:spcBef>
                <a:spcPts val="0"/>
              </a:spcBef>
              <a:spcAft>
                <a:spcPts val="0"/>
              </a:spcAft>
              <a:buClr>
                <a:srgbClr val="292929"/>
              </a:buClr>
              <a:buSzPts val="1500"/>
              <a:buFont typeface="Arial"/>
              <a:buAutoNum type="arabicPeriod"/>
            </a:pPr>
            <a:r>
              <a:rPr lang="en-US" sz="1500" b="1" i="0" u="none" strike="noStrike" cap="none" dirty="0">
                <a:solidFill>
                  <a:srgbClr val="292929"/>
                </a:solidFill>
                <a:highlight>
                  <a:srgbClr val="FFFFFF"/>
                </a:highlight>
                <a:ea typeface="Arial"/>
                <a:cs typeface="Arial"/>
                <a:sym typeface="Arial"/>
              </a:rPr>
              <a:t>Evaluation</a:t>
            </a:r>
            <a:endParaRPr sz="1500" b="1" i="0" u="none" strike="noStrike" cap="none" dirty="0">
              <a:solidFill>
                <a:srgbClr val="292929"/>
              </a:solidFill>
              <a:highlight>
                <a:srgbClr val="FFFFFF"/>
              </a:highlight>
              <a:ea typeface="Arial"/>
              <a:cs typeface="Arial"/>
              <a:sym typeface="Arial"/>
            </a:endParaRPr>
          </a:p>
        </p:txBody>
      </p:sp>
      <p:cxnSp>
        <p:nvCxnSpPr>
          <p:cNvPr id="346" name="Google Shape;346;g11aae61f751_0_1452"/>
          <p:cNvCxnSpPr/>
          <p:nvPr/>
        </p:nvCxnSpPr>
        <p:spPr>
          <a:xfrm flipH="1">
            <a:off x="9150675" y="2594125"/>
            <a:ext cx="9900" cy="3856500"/>
          </a:xfrm>
          <a:prstGeom prst="straightConnector1">
            <a:avLst/>
          </a:prstGeom>
          <a:noFill/>
          <a:ln w="9525" cap="flat" cmpd="sng">
            <a:solidFill>
              <a:srgbClr val="003366"/>
            </a:solidFill>
            <a:prstDash val="dash"/>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sz="3600" dirty="0"/>
              <a:t>Implementation Analysis</a:t>
            </a:r>
            <a:endParaRPr dirty="0"/>
          </a:p>
        </p:txBody>
      </p:sp>
      <p:sp>
        <p:nvSpPr>
          <p:cNvPr id="352" name="Google Shape;352;p9"/>
          <p:cNvSpPr/>
          <p:nvPr/>
        </p:nvSpPr>
        <p:spPr>
          <a:xfrm>
            <a:off x="7962063" y="2193944"/>
            <a:ext cx="1756500" cy="758700"/>
          </a:xfrm>
          <a:prstGeom prst="ellipse">
            <a:avLst/>
          </a:prstGeom>
          <a:solidFill>
            <a:srgbClr val="FFFFFF"/>
          </a:solidFill>
          <a:ln w="28575" cap="flat" cmpd="sng">
            <a:solidFill>
              <a:srgbClr val="00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ea typeface="Arial"/>
              <a:cs typeface="Arial"/>
              <a:sym typeface="Arial"/>
            </a:endParaRPr>
          </a:p>
        </p:txBody>
      </p:sp>
      <p:sp>
        <p:nvSpPr>
          <p:cNvPr id="353" name="Google Shape;353;p9"/>
          <p:cNvSpPr txBox="1"/>
          <p:nvPr/>
        </p:nvSpPr>
        <p:spPr>
          <a:xfrm>
            <a:off x="8160813" y="2311694"/>
            <a:ext cx="13590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US" sz="2200" b="0" i="0" u="none" strike="noStrike" cap="none">
                <a:solidFill>
                  <a:srgbClr val="001A36"/>
                </a:solidFill>
                <a:highlight>
                  <a:srgbClr val="FFFFFF"/>
                </a:highlight>
                <a:ea typeface="Times New Roman"/>
                <a:cs typeface="Times New Roman"/>
                <a:sym typeface="Times New Roman"/>
              </a:rPr>
              <a:t>Accuracy</a:t>
            </a:r>
            <a:endParaRPr sz="1400" b="0" i="0" u="none" strike="noStrike" cap="none">
              <a:solidFill>
                <a:srgbClr val="000000"/>
              </a:solidFill>
              <a:ea typeface="Arial"/>
              <a:cs typeface="Arial"/>
              <a:sym typeface="Arial"/>
            </a:endParaRPr>
          </a:p>
        </p:txBody>
      </p:sp>
      <p:sp>
        <p:nvSpPr>
          <p:cNvPr id="354" name="Google Shape;354;p9"/>
          <p:cNvSpPr/>
          <p:nvPr/>
        </p:nvSpPr>
        <p:spPr>
          <a:xfrm>
            <a:off x="1183588" y="2061419"/>
            <a:ext cx="3890100" cy="4469400"/>
          </a:xfrm>
          <a:prstGeom prst="ellipse">
            <a:avLst/>
          </a:prstGeom>
          <a:solidFill>
            <a:srgbClr val="FFFFFF"/>
          </a:solidFill>
          <a:ln w="28575" cap="flat" cmpd="sng">
            <a:solidFill>
              <a:srgbClr val="00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200"/>
              <a:buFont typeface="Arial"/>
              <a:buNone/>
            </a:pPr>
            <a:endParaRPr sz="2200" b="0" i="0" u="none" strike="noStrike" cap="none">
              <a:solidFill>
                <a:srgbClr val="001A36"/>
              </a:solidFill>
              <a:highlight>
                <a:srgbClr val="FFFFFF"/>
              </a:highlight>
              <a:ea typeface="Times New Roman"/>
              <a:cs typeface="Times New Roman"/>
              <a:sym typeface="Times New Roman"/>
            </a:endParaRPr>
          </a:p>
        </p:txBody>
      </p:sp>
      <p:sp>
        <p:nvSpPr>
          <p:cNvPr id="355" name="Google Shape;355;p9"/>
          <p:cNvSpPr txBox="1"/>
          <p:nvPr/>
        </p:nvSpPr>
        <p:spPr>
          <a:xfrm>
            <a:off x="1499563" y="2902994"/>
            <a:ext cx="3749700" cy="301618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Decision Tree</a:t>
            </a:r>
            <a:endParaRPr sz="2000" b="1" i="0" u="none" strike="noStrike" cap="none" dirty="0">
              <a:solidFill>
                <a:srgbClr val="292929"/>
              </a:solidFill>
              <a:highlight>
                <a:srgbClr val="FFFFFF"/>
              </a:highlight>
              <a:ea typeface="Times New Roman"/>
              <a:cs typeface="Times New Roman"/>
              <a:sym typeface="Times New Roman"/>
            </a:endParaRPr>
          </a:p>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Naive Bayes Classifier</a:t>
            </a:r>
            <a:endParaRPr sz="2000" b="1" i="0" u="none" strike="noStrike" cap="none" dirty="0">
              <a:solidFill>
                <a:srgbClr val="292929"/>
              </a:solidFill>
              <a:highlight>
                <a:srgbClr val="FFFFFF"/>
              </a:highlight>
              <a:ea typeface="Times New Roman"/>
              <a:cs typeface="Times New Roman"/>
              <a:sym typeface="Times New Roman"/>
            </a:endParaRPr>
          </a:p>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Logistic Regression </a:t>
            </a:r>
            <a:endParaRPr sz="2000" b="1" i="0" u="none" strike="noStrike" cap="none" dirty="0">
              <a:solidFill>
                <a:srgbClr val="292929"/>
              </a:solidFill>
              <a:highlight>
                <a:srgbClr val="FFFFFF"/>
              </a:highlight>
              <a:ea typeface="Times New Roman"/>
              <a:cs typeface="Times New Roman"/>
              <a:sym typeface="Times New Roman"/>
            </a:endParaRPr>
          </a:p>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Feed forward neural network </a:t>
            </a:r>
            <a:endParaRPr sz="2000" b="1" i="0" u="none" strike="noStrike" cap="none" dirty="0">
              <a:solidFill>
                <a:srgbClr val="292929"/>
              </a:solidFill>
              <a:highlight>
                <a:srgbClr val="FFFFFF"/>
              </a:highlight>
              <a:ea typeface="Times New Roman"/>
              <a:cs typeface="Times New Roman"/>
              <a:sym typeface="Times New Roman"/>
            </a:endParaRPr>
          </a:p>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Support Vector Machine</a:t>
            </a:r>
            <a:endParaRPr sz="2000" b="1" i="0" u="none" strike="noStrike" cap="none" dirty="0">
              <a:solidFill>
                <a:srgbClr val="292929"/>
              </a:solidFill>
              <a:highlight>
                <a:srgbClr val="FFFFFF"/>
              </a:highlight>
              <a:ea typeface="Times New Roman"/>
              <a:cs typeface="Times New Roman"/>
              <a:sym typeface="Times New Roman"/>
            </a:endParaRPr>
          </a:p>
          <a:p>
            <a:pPr marL="457200" marR="0" lvl="0" indent="-355600" algn="l" rtl="0">
              <a:lnSpc>
                <a:spcPct val="115000"/>
              </a:lnSpc>
              <a:spcBef>
                <a:spcPts val="0"/>
              </a:spcBef>
              <a:spcAft>
                <a:spcPts val="0"/>
              </a:spcAft>
              <a:buClr>
                <a:srgbClr val="292929"/>
              </a:buClr>
              <a:buSzPts val="2000"/>
              <a:buFont typeface="Times New Roman"/>
              <a:buChar char="●"/>
            </a:pPr>
            <a:r>
              <a:rPr lang="en-US" sz="2000" b="1" i="0" u="none" strike="noStrike" cap="none" dirty="0">
                <a:solidFill>
                  <a:srgbClr val="292929"/>
                </a:solidFill>
                <a:highlight>
                  <a:srgbClr val="FFFFFF"/>
                </a:highlight>
                <a:ea typeface="Times New Roman"/>
                <a:cs typeface="Times New Roman"/>
                <a:sym typeface="Times New Roman"/>
              </a:rPr>
              <a:t>Random Forest</a:t>
            </a:r>
          </a:p>
          <a:p>
            <a:pPr marL="457200" marR="0" lvl="0" indent="-355600" algn="l" rtl="0">
              <a:lnSpc>
                <a:spcPct val="115000"/>
              </a:lnSpc>
              <a:spcBef>
                <a:spcPts val="0"/>
              </a:spcBef>
              <a:spcAft>
                <a:spcPts val="0"/>
              </a:spcAft>
              <a:buClr>
                <a:srgbClr val="292929"/>
              </a:buClr>
              <a:buSzPts val="2000"/>
              <a:buFont typeface="Times New Roman"/>
              <a:buChar char="●"/>
            </a:pPr>
            <a:r>
              <a:rPr lang="en-US" sz="2000" b="1" dirty="0">
                <a:solidFill>
                  <a:srgbClr val="292929"/>
                </a:solidFill>
                <a:highlight>
                  <a:srgbClr val="FFFFFF"/>
                </a:highlight>
                <a:cs typeface="Times New Roman"/>
                <a:sym typeface="Times New Roman"/>
              </a:rPr>
              <a:t>CNN</a:t>
            </a:r>
            <a:endParaRPr sz="1200" b="1" i="0" u="none" strike="noStrike" cap="none" dirty="0">
              <a:solidFill>
                <a:srgbClr val="000000"/>
              </a:solidFill>
              <a:ea typeface="Arial"/>
              <a:cs typeface="Arial"/>
              <a:sym typeface="Arial"/>
            </a:endParaRPr>
          </a:p>
        </p:txBody>
      </p:sp>
      <p:sp>
        <p:nvSpPr>
          <p:cNvPr id="356" name="Google Shape;356;p9"/>
          <p:cNvSpPr txBox="1"/>
          <p:nvPr/>
        </p:nvSpPr>
        <p:spPr>
          <a:xfrm>
            <a:off x="1253788" y="2270144"/>
            <a:ext cx="3749700" cy="680156"/>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2800"/>
              <a:buFont typeface="Arial"/>
              <a:buNone/>
            </a:pPr>
            <a:r>
              <a:rPr lang="en-US" sz="2800" b="1" i="1" u="none" strike="noStrike" cap="none">
                <a:solidFill>
                  <a:srgbClr val="292929"/>
                </a:solidFill>
                <a:highlight>
                  <a:srgbClr val="FFFFFF"/>
                </a:highlight>
                <a:ea typeface="Times New Roman"/>
                <a:cs typeface="Times New Roman"/>
                <a:sym typeface="Times New Roman"/>
              </a:rPr>
              <a:t>Algorithms</a:t>
            </a:r>
            <a:endParaRPr sz="2000" b="1" i="1" u="none" strike="noStrike" cap="none">
              <a:solidFill>
                <a:srgbClr val="000000"/>
              </a:solidFill>
              <a:ea typeface="Arial"/>
              <a:cs typeface="Arial"/>
              <a:sym typeface="Arial"/>
            </a:endParaRPr>
          </a:p>
        </p:txBody>
      </p:sp>
      <p:sp>
        <p:nvSpPr>
          <p:cNvPr id="357" name="Google Shape;357;p9"/>
          <p:cNvSpPr/>
          <p:nvPr/>
        </p:nvSpPr>
        <p:spPr>
          <a:xfrm>
            <a:off x="8190663" y="3260744"/>
            <a:ext cx="1756500" cy="758700"/>
          </a:xfrm>
          <a:prstGeom prst="ellipse">
            <a:avLst/>
          </a:prstGeom>
          <a:solidFill>
            <a:srgbClr val="FFFFFF"/>
          </a:solidFill>
          <a:ln w="28575" cap="flat" cmpd="sng">
            <a:solidFill>
              <a:srgbClr val="00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ea typeface="Arial"/>
              <a:cs typeface="Arial"/>
              <a:sym typeface="Arial"/>
            </a:endParaRPr>
          </a:p>
        </p:txBody>
      </p:sp>
      <p:sp>
        <p:nvSpPr>
          <p:cNvPr id="358" name="Google Shape;358;p9"/>
          <p:cNvSpPr txBox="1"/>
          <p:nvPr/>
        </p:nvSpPr>
        <p:spPr>
          <a:xfrm>
            <a:off x="8389413" y="3378494"/>
            <a:ext cx="13590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US" sz="2200" b="0" i="0" u="none" strike="noStrike" cap="none">
                <a:solidFill>
                  <a:srgbClr val="001A36"/>
                </a:solidFill>
                <a:highlight>
                  <a:srgbClr val="FFFFFF"/>
                </a:highlight>
                <a:ea typeface="Times New Roman"/>
                <a:cs typeface="Times New Roman"/>
                <a:sym typeface="Times New Roman"/>
              </a:rPr>
              <a:t>Precision</a:t>
            </a:r>
            <a:endParaRPr sz="1400" b="0" i="0" u="none" strike="noStrike" cap="none">
              <a:solidFill>
                <a:srgbClr val="000000"/>
              </a:solidFill>
              <a:ea typeface="Arial"/>
              <a:cs typeface="Arial"/>
              <a:sym typeface="Arial"/>
            </a:endParaRPr>
          </a:p>
        </p:txBody>
      </p:sp>
      <p:sp>
        <p:nvSpPr>
          <p:cNvPr id="359" name="Google Shape;359;p9"/>
          <p:cNvSpPr/>
          <p:nvPr/>
        </p:nvSpPr>
        <p:spPr>
          <a:xfrm>
            <a:off x="8266863" y="4175144"/>
            <a:ext cx="1756500" cy="758700"/>
          </a:xfrm>
          <a:prstGeom prst="ellipse">
            <a:avLst/>
          </a:prstGeom>
          <a:solidFill>
            <a:srgbClr val="FFFFFF"/>
          </a:solidFill>
          <a:ln w="28575" cap="flat" cmpd="sng">
            <a:solidFill>
              <a:srgbClr val="00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ea typeface="Arial"/>
              <a:cs typeface="Arial"/>
              <a:sym typeface="Arial"/>
            </a:endParaRPr>
          </a:p>
        </p:txBody>
      </p:sp>
      <p:sp>
        <p:nvSpPr>
          <p:cNvPr id="360" name="Google Shape;360;p9"/>
          <p:cNvSpPr txBox="1"/>
          <p:nvPr/>
        </p:nvSpPr>
        <p:spPr>
          <a:xfrm>
            <a:off x="8694213" y="4292894"/>
            <a:ext cx="13590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US" sz="2200" b="0" i="0" u="none" strike="noStrike" cap="none">
                <a:solidFill>
                  <a:srgbClr val="001A36"/>
                </a:solidFill>
                <a:highlight>
                  <a:srgbClr val="FFFFFF"/>
                </a:highlight>
                <a:ea typeface="Times New Roman"/>
                <a:cs typeface="Times New Roman"/>
                <a:sym typeface="Times New Roman"/>
              </a:rPr>
              <a:t>Recall</a:t>
            </a:r>
            <a:endParaRPr sz="1400" b="0" i="0" u="none" strike="noStrike" cap="none">
              <a:solidFill>
                <a:srgbClr val="000000"/>
              </a:solidFill>
              <a:ea typeface="Arial"/>
              <a:cs typeface="Arial"/>
              <a:sym typeface="Arial"/>
            </a:endParaRPr>
          </a:p>
        </p:txBody>
      </p:sp>
      <p:sp>
        <p:nvSpPr>
          <p:cNvPr id="361" name="Google Shape;361;p9"/>
          <p:cNvSpPr/>
          <p:nvPr/>
        </p:nvSpPr>
        <p:spPr>
          <a:xfrm>
            <a:off x="7657263" y="5241944"/>
            <a:ext cx="2969100" cy="758700"/>
          </a:xfrm>
          <a:prstGeom prst="ellipse">
            <a:avLst/>
          </a:prstGeom>
          <a:solidFill>
            <a:srgbClr val="FFFFFF"/>
          </a:solidFill>
          <a:ln w="28575" cap="flat" cmpd="sng">
            <a:solidFill>
              <a:srgbClr val="00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ea typeface="Arial"/>
              <a:cs typeface="Arial"/>
              <a:sym typeface="Arial"/>
            </a:endParaRPr>
          </a:p>
        </p:txBody>
      </p:sp>
      <p:sp>
        <p:nvSpPr>
          <p:cNvPr id="362" name="Google Shape;362;p9"/>
          <p:cNvSpPr txBox="1"/>
          <p:nvPr/>
        </p:nvSpPr>
        <p:spPr>
          <a:xfrm>
            <a:off x="8008413" y="5359694"/>
            <a:ext cx="27108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US" sz="2200" b="0" i="0" u="none" strike="noStrike" cap="none">
                <a:solidFill>
                  <a:srgbClr val="001A36"/>
                </a:solidFill>
                <a:highlight>
                  <a:srgbClr val="FFFFFF"/>
                </a:highlight>
                <a:ea typeface="Times New Roman"/>
                <a:cs typeface="Times New Roman"/>
                <a:sym typeface="Times New Roman"/>
              </a:rPr>
              <a:t>Training &amp; Testing </a:t>
            </a:r>
            <a:endParaRPr sz="1400" b="0" i="0" u="none" strike="noStrike" cap="none">
              <a:solidFill>
                <a:srgbClr val="000000"/>
              </a:solidFill>
              <a:ea typeface="Arial"/>
              <a:cs typeface="Arial"/>
              <a:sym typeface="Arial"/>
            </a:endParaRPr>
          </a:p>
        </p:txBody>
      </p:sp>
      <p:cxnSp>
        <p:nvCxnSpPr>
          <p:cNvPr id="363" name="Google Shape;363;p9"/>
          <p:cNvCxnSpPr>
            <a:endCxn id="352" idx="2"/>
          </p:cNvCxnSpPr>
          <p:nvPr/>
        </p:nvCxnSpPr>
        <p:spPr>
          <a:xfrm rot="10800000" flipH="1">
            <a:off x="4636263" y="2573294"/>
            <a:ext cx="3325800" cy="329700"/>
          </a:xfrm>
          <a:prstGeom prst="straightConnector1">
            <a:avLst/>
          </a:prstGeom>
          <a:noFill/>
          <a:ln w="28575" cap="flat" cmpd="sng">
            <a:solidFill>
              <a:srgbClr val="003366"/>
            </a:solidFill>
            <a:prstDash val="solid"/>
            <a:round/>
            <a:headEnd type="none" w="sm" len="sm"/>
            <a:tailEnd type="triangle" w="med" len="med"/>
          </a:ln>
        </p:spPr>
      </p:cxnSp>
      <p:cxnSp>
        <p:nvCxnSpPr>
          <p:cNvPr id="364" name="Google Shape;364;p9"/>
          <p:cNvCxnSpPr>
            <a:endCxn id="357" idx="2"/>
          </p:cNvCxnSpPr>
          <p:nvPr/>
        </p:nvCxnSpPr>
        <p:spPr>
          <a:xfrm rot="10800000" flipH="1">
            <a:off x="4984263" y="3640094"/>
            <a:ext cx="3206400" cy="54900"/>
          </a:xfrm>
          <a:prstGeom prst="straightConnector1">
            <a:avLst/>
          </a:prstGeom>
          <a:noFill/>
          <a:ln w="28575" cap="flat" cmpd="sng">
            <a:solidFill>
              <a:srgbClr val="003366"/>
            </a:solidFill>
            <a:prstDash val="solid"/>
            <a:round/>
            <a:headEnd type="none" w="sm" len="sm"/>
            <a:tailEnd type="triangle" w="med" len="med"/>
          </a:ln>
        </p:spPr>
      </p:cxnSp>
      <p:cxnSp>
        <p:nvCxnSpPr>
          <p:cNvPr id="365" name="Google Shape;365;p9"/>
          <p:cNvCxnSpPr>
            <a:endCxn id="359" idx="2"/>
          </p:cNvCxnSpPr>
          <p:nvPr/>
        </p:nvCxnSpPr>
        <p:spPr>
          <a:xfrm>
            <a:off x="5069763" y="4516094"/>
            <a:ext cx="3197100" cy="38400"/>
          </a:xfrm>
          <a:prstGeom prst="straightConnector1">
            <a:avLst/>
          </a:prstGeom>
          <a:noFill/>
          <a:ln w="28575" cap="flat" cmpd="sng">
            <a:solidFill>
              <a:srgbClr val="003366"/>
            </a:solidFill>
            <a:prstDash val="solid"/>
            <a:round/>
            <a:headEnd type="none" w="sm" len="sm"/>
            <a:tailEnd type="triangle" w="med" len="med"/>
          </a:ln>
        </p:spPr>
      </p:cxnSp>
      <p:cxnSp>
        <p:nvCxnSpPr>
          <p:cNvPr id="366" name="Google Shape;366;p9"/>
          <p:cNvCxnSpPr>
            <a:endCxn id="361" idx="2"/>
          </p:cNvCxnSpPr>
          <p:nvPr/>
        </p:nvCxnSpPr>
        <p:spPr>
          <a:xfrm>
            <a:off x="4805463" y="5447294"/>
            <a:ext cx="2851800" cy="174000"/>
          </a:xfrm>
          <a:prstGeom prst="straightConnector1">
            <a:avLst/>
          </a:prstGeom>
          <a:noFill/>
          <a:ln w="28575" cap="flat" cmpd="sng">
            <a:solidFill>
              <a:srgbClr val="003366"/>
            </a:solidFill>
            <a:prstDash val="solid"/>
            <a:round/>
            <a:headEnd type="none" w="sm" len="sm"/>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11aae61f751_0_175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t>Results</a:t>
            </a:r>
            <a:endParaRPr/>
          </a:p>
        </p:txBody>
      </p:sp>
      <p:sp>
        <p:nvSpPr>
          <p:cNvPr id="372" name="Google Shape;372;g11aae61f751_0_1758"/>
          <p:cNvSpPr txBox="1"/>
          <p:nvPr/>
        </p:nvSpPr>
        <p:spPr>
          <a:xfrm>
            <a:off x="424591" y="1880944"/>
            <a:ext cx="11029615" cy="4452900"/>
          </a:xfrm>
          <a:prstGeom prst="rect">
            <a:avLst/>
          </a:prstGeom>
          <a:no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452498" marR="638949" lvl="0" indent="-129" algn="just" rtl="0">
              <a:lnSpc>
                <a:spcPct val="145784"/>
              </a:lnSpc>
              <a:spcBef>
                <a:spcPts val="0"/>
              </a:spcBef>
              <a:spcAft>
                <a:spcPts val="0"/>
              </a:spcAft>
              <a:buClr>
                <a:srgbClr val="000000"/>
              </a:buClr>
              <a:buSzPts val="2001"/>
              <a:buFont typeface="Arial"/>
              <a:buNone/>
            </a:pPr>
            <a:r>
              <a:rPr lang="en-US" sz="2001" b="0" i="0" u="none" strike="noStrike" cap="none" dirty="0">
                <a:solidFill>
                  <a:srgbClr val="001A36"/>
                </a:solidFill>
                <a:ea typeface="Times New Roman"/>
                <a:cs typeface="Times New Roman"/>
                <a:sym typeface="Times New Roman"/>
              </a:rPr>
              <a:t>For this purpose, the </a:t>
            </a:r>
            <a:r>
              <a:rPr lang="en-US" sz="2001" b="1" i="0" u="none" strike="noStrike" cap="none" dirty="0">
                <a:solidFill>
                  <a:srgbClr val="001A36"/>
                </a:solidFill>
                <a:ea typeface="Times New Roman"/>
                <a:cs typeface="Times New Roman"/>
                <a:sym typeface="Times New Roman"/>
              </a:rPr>
              <a:t>“Forest-fires.csv”</a:t>
            </a:r>
            <a:r>
              <a:rPr lang="en-US" sz="2001" b="0" i="0" u="none" strike="noStrike" cap="none" dirty="0">
                <a:solidFill>
                  <a:srgbClr val="001A36"/>
                </a:solidFill>
                <a:ea typeface="Times New Roman"/>
                <a:cs typeface="Times New Roman"/>
                <a:sym typeface="Times New Roman"/>
              </a:rPr>
              <a:t> dataset from the UCI machine learning repository was taken and machine learning algorithms were applied to find accuracy of detection. The dataset </a:t>
            </a:r>
            <a:r>
              <a:rPr lang="en-US" sz="2001" b="1" i="0" u="none" strike="noStrike" cap="none" dirty="0">
                <a:solidFill>
                  <a:srgbClr val="001A36"/>
                </a:solidFill>
                <a:ea typeface="Times New Roman"/>
                <a:cs typeface="Times New Roman"/>
                <a:sym typeface="Times New Roman"/>
              </a:rPr>
              <a:t>“Forest-</a:t>
            </a:r>
            <a:r>
              <a:rPr lang="en-US" sz="2001" b="1" i="0" u="none" strike="noStrike" cap="none" dirty="0" err="1">
                <a:solidFill>
                  <a:srgbClr val="001A36"/>
                </a:solidFill>
                <a:ea typeface="Times New Roman"/>
                <a:cs typeface="Times New Roman"/>
                <a:sym typeface="Times New Roman"/>
              </a:rPr>
              <a:t>fires.csv</a:t>
            </a:r>
            <a:r>
              <a:rPr lang="en-US" sz="2001" b="1" i="0" u="none" strike="noStrike" cap="none" dirty="0">
                <a:solidFill>
                  <a:srgbClr val="001A36"/>
                </a:solidFill>
                <a:ea typeface="Times New Roman"/>
                <a:cs typeface="Times New Roman"/>
                <a:sym typeface="Times New Roman"/>
              </a:rPr>
              <a:t>”</a:t>
            </a:r>
            <a:r>
              <a:rPr lang="en-US" sz="2001" b="0" i="0" u="none" strike="noStrike" cap="none" dirty="0">
                <a:solidFill>
                  <a:srgbClr val="001A36"/>
                </a:solidFill>
                <a:ea typeface="Times New Roman"/>
                <a:cs typeface="Times New Roman"/>
                <a:sym typeface="Times New Roman"/>
              </a:rPr>
              <a:t> contains 517 instances and 13 attributes.</a:t>
            </a:r>
            <a:r>
              <a:rPr lang="en-US" sz="1901" b="0" i="0" u="none" strike="noStrike" cap="none" dirty="0">
                <a:solidFill>
                  <a:srgbClr val="001A36"/>
                </a:solidFill>
                <a:ea typeface="Times New Roman"/>
                <a:cs typeface="Times New Roman"/>
                <a:sym typeface="Times New Roman"/>
              </a:rPr>
              <a:t> </a:t>
            </a:r>
            <a:endParaRPr sz="3900" b="0" i="0" u="none" strike="noStrike" cap="none" dirty="0">
              <a:solidFill>
                <a:srgbClr val="001A36"/>
              </a:solidFill>
              <a:ea typeface="Times New Roman"/>
              <a:cs typeface="Times New Roman"/>
              <a:sym typeface="Times New Roman"/>
            </a:endParaRPr>
          </a:p>
          <a:p>
            <a:pPr marL="342900" marR="0" lvl="0" indent="-139700" algn="l" rtl="0">
              <a:lnSpc>
                <a:spcPct val="100000"/>
              </a:lnSpc>
              <a:spcBef>
                <a:spcPts val="0"/>
              </a:spcBef>
              <a:spcAft>
                <a:spcPts val="0"/>
              </a:spcAft>
              <a:buClr>
                <a:srgbClr val="000000"/>
              </a:buClr>
              <a:buSzPts val="3800"/>
              <a:buFont typeface="Arial"/>
              <a:buNone/>
            </a:pPr>
            <a:endParaRPr sz="3800" b="0" i="0" u="none" strike="noStrike" cap="none" dirty="0">
              <a:solidFill>
                <a:srgbClr val="003366"/>
              </a:solidFill>
              <a:latin typeface="Times New Roman"/>
              <a:ea typeface="Times New Roman"/>
              <a:cs typeface="Times New Roman"/>
              <a:sym typeface="Times New Roman"/>
            </a:endParaRPr>
          </a:p>
          <a:p>
            <a:pPr marL="342900" marR="0" lvl="0" indent="-139700" algn="l" rtl="0">
              <a:lnSpc>
                <a:spcPct val="100000"/>
              </a:lnSpc>
              <a:spcBef>
                <a:spcPts val="0"/>
              </a:spcBef>
              <a:spcAft>
                <a:spcPts val="0"/>
              </a:spcAft>
              <a:buClr>
                <a:srgbClr val="000000"/>
              </a:buClr>
              <a:buSzPts val="3800"/>
              <a:buFont typeface="Arial"/>
              <a:buNone/>
            </a:pPr>
            <a:endParaRPr sz="3800" b="0" i="0" u="none" strike="noStrike" cap="none" dirty="0">
              <a:solidFill>
                <a:srgbClr val="003366"/>
              </a:solidFill>
              <a:latin typeface="Times New Roman"/>
              <a:ea typeface="Times New Roman"/>
              <a:cs typeface="Times New Roman"/>
              <a:sym typeface="Times New Roman"/>
            </a:endParaRPr>
          </a:p>
          <a:p>
            <a:pPr marL="342900" marR="0" lvl="0" indent="-139700" algn="l" rtl="0">
              <a:lnSpc>
                <a:spcPct val="100000"/>
              </a:lnSpc>
              <a:spcBef>
                <a:spcPts val="0"/>
              </a:spcBef>
              <a:spcAft>
                <a:spcPts val="0"/>
              </a:spcAft>
              <a:buClr>
                <a:srgbClr val="000000"/>
              </a:buClr>
              <a:buSzPts val="3800"/>
              <a:buFont typeface="Arial"/>
              <a:buNone/>
            </a:pPr>
            <a:endParaRPr sz="3800" b="0" i="0" u="none" strike="noStrike" cap="none" dirty="0">
              <a:solidFill>
                <a:srgbClr val="003366"/>
              </a:solidFill>
              <a:latin typeface="Times New Roman"/>
              <a:ea typeface="Times New Roman"/>
              <a:cs typeface="Times New Roman"/>
              <a:sym typeface="Times New Roman"/>
            </a:endParaRPr>
          </a:p>
          <a:p>
            <a:pPr marL="342900" marR="0" lvl="0" indent="-139700" algn="l" rtl="0">
              <a:lnSpc>
                <a:spcPct val="100000"/>
              </a:lnSpc>
              <a:spcBef>
                <a:spcPts val="0"/>
              </a:spcBef>
              <a:spcAft>
                <a:spcPts val="0"/>
              </a:spcAft>
              <a:buClr>
                <a:srgbClr val="000000"/>
              </a:buClr>
              <a:buSzPts val="3800"/>
              <a:buFont typeface="Arial"/>
              <a:buNone/>
            </a:pPr>
            <a:endParaRPr sz="3800" b="0" i="0" u="none" strike="noStrike" cap="none" dirty="0">
              <a:solidFill>
                <a:srgbClr val="003366"/>
              </a:solidFill>
              <a:latin typeface="Times New Roman"/>
              <a:ea typeface="Times New Roman"/>
              <a:cs typeface="Times New Roman"/>
              <a:sym typeface="Times New Roman"/>
            </a:endParaRPr>
          </a:p>
          <a:p>
            <a:pPr marL="342900" marR="0" lvl="0" indent="-139700" algn="l" rtl="0">
              <a:lnSpc>
                <a:spcPct val="100000"/>
              </a:lnSpc>
              <a:spcBef>
                <a:spcPts val="0"/>
              </a:spcBef>
              <a:spcAft>
                <a:spcPts val="0"/>
              </a:spcAft>
              <a:buClr>
                <a:srgbClr val="000000"/>
              </a:buClr>
              <a:buSzPts val="3800"/>
              <a:buFont typeface="Arial"/>
              <a:buNone/>
            </a:pPr>
            <a:endParaRPr sz="3800" b="0" i="0" u="none" strike="noStrike" cap="none" dirty="0">
              <a:solidFill>
                <a:srgbClr val="003366"/>
              </a:solidFill>
              <a:latin typeface="Times New Roman"/>
              <a:ea typeface="Times New Roman"/>
              <a:cs typeface="Times New Roman"/>
              <a:sym typeface="Times New Roman"/>
            </a:endParaRPr>
          </a:p>
        </p:txBody>
      </p:sp>
      <p:graphicFrame>
        <p:nvGraphicFramePr>
          <p:cNvPr id="2" name="Table 2">
            <a:extLst>
              <a:ext uri="{FF2B5EF4-FFF2-40B4-BE49-F238E27FC236}">
                <a16:creationId xmlns:a16="http://schemas.microsoft.com/office/drawing/2014/main" id="{B2B81172-154E-5D5A-6B6D-DB99F3E8671D}"/>
              </a:ext>
            </a:extLst>
          </p:cNvPr>
          <p:cNvGraphicFramePr>
            <a:graphicFrameLocks noGrp="1"/>
          </p:cNvGraphicFramePr>
          <p:nvPr>
            <p:extLst>
              <p:ext uri="{D42A27DB-BD31-4B8C-83A1-F6EECF244321}">
                <p14:modId xmlns:p14="http://schemas.microsoft.com/office/powerpoint/2010/main" val="2290076597"/>
              </p:ext>
            </p:extLst>
          </p:nvPr>
        </p:nvGraphicFramePr>
        <p:xfrm>
          <a:off x="1648941" y="3586433"/>
          <a:ext cx="8128000" cy="2225040"/>
        </p:xfrm>
        <a:graphic>
          <a:graphicData uri="http://schemas.openxmlformats.org/drawingml/2006/table">
            <a:tbl>
              <a:tblPr firstRow="1" bandRow="1">
                <a:tableStyleId>{2A488322-F2BA-4B5B-9748-0D474271808F}</a:tableStyleId>
              </a:tblPr>
              <a:tblGrid>
                <a:gridCol w="4064000">
                  <a:extLst>
                    <a:ext uri="{9D8B030D-6E8A-4147-A177-3AD203B41FA5}">
                      <a16:colId xmlns:a16="http://schemas.microsoft.com/office/drawing/2014/main" val="4249270019"/>
                    </a:ext>
                  </a:extLst>
                </a:gridCol>
                <a:gridCol w="4064000">
                  <a:extLst>
                    <a:ext uri="{9D8B030D-6E8A-4147-A177-3AD203B41FA5}">
                      <a16:colId xmlns:a16="http://schemas.microsoft.com/office/drawing/2014/main" val="3042107158"/>
                    </a:ext>
                  </a:extLst>
                </a:gridCol>
              </a:tblGrid>
              <a:tr h="370840">
                <a:tc>
                  <a:txBody>
                    <a:bodyPr/>
                    <a:lstStyle/>
                    <a:p>
                      <a:pPr algn="ctr"/>
                      <a:r>
                        <a:rPr lang="en-US" dirty="0"/>
                        <a:t>Machine Learning Algorithm</a:t>
                      </a:r>
                    </a:p>
                  </a:txBody>
                  <a:tcPr/>
                </a:tc>
                <a:tc>
                  <a:txBody>
                    <a:bodyPr/>
                    <a:lstStyle/>
                    <a:p>
                      <a:pPr algn="ctr"/>
                      <a:r>
                        <a:rPr lang="en-US" dirty="0"/>
                        <a:t>Accuracy</a:t>
                      </a:r>
                    </a:p>
                  </a:txBody>
                  <a:tcPr/>
                </a:tc>
                <a:extLst>
                  <a:ext uri="{0D108BD9-81ED-4DB2-BD59-A6C34878D82A}">
                    <a16:rowId xmlns:a16="http://schemas.microsoft.com/office/drawing/2014/main" val="1794855590"/>
                  </a:ext>
                </a:extLst>
              </a:tr>
              <a:tr h="370840">
                <a:tc>
                  <a:txBody>
                    <a:bodyPr/>
                    <a:lstStyle/>
                    <a:p>
                      <a:r>
                        <a:rPr lang="en-US" dirty="0"/>
                        <a:t>Decision Tree</a:t>
                      </a:r>
                    </a:p>
                  </a:txBody>
                  <a:tcPr/>
                </a:tc>
                <a:tc>
                  <a:txBody>
                    <a:bodyPr/>
                    <a:lstStyle/>
                    <a:p>
                      <a:pPr algn="ctr"/>
                      <a:r>
                        <a:rPr lang="en-US" dirty="0"/>
                        <a:t>52.56%</a:t>
                      </a:r>
                    </a:p>
                  </a:txBody>
                  <a:tcPr/>
                </a:tc>
                <a:extLst>
                  <a:ext uri="{0D108BD9-81ED-4DB2-BD59-A6C34878D82A}">
                    <a16:rowId xmlns:a16="http://schemas.microsoft.com/office/drawing/2014/main" val="919230783"/>
                  </a:ext>
                </a:extLst>
              </a:tr>
              <a:tr h="370840">
                <a:tc>
                  <a:txBody>
                    <a:bodyPr/>
                    <a:lstStyle/>
                    <a:p>
                      <a:r>
                        <a:rPr lang="en-US" dirty="0"/>
                        <a:t>Naive Bayes Classifier </a:t>
                      </a:r>
                    </a:p>
                  </a:txBody>
                  <a:tcPr/>
                </a:tc>
                <a:tc>
                  <a:txBody>
                    <a:bodyPr/>
                    <a:lstStyle/>
                    <a:p>
                      <a:pPr algn="ctr"/>
                      <a:r>
                        <a:rPr lang="en-US" dirty="0"/>
                        <a:t>48.07%</a:t>
                      </a:r>
                    </a:p>
                  </a:txBody>
                  <a:tcPr/>
                </a:tc>
                <a:extLst>
                  <a:ext uri="{0D108BD9-81ED-4DB2-BD59-A6C34878D82A}">
                    <a16:rowId xmlns:a16="http://schemas.microsoft.com/office/drawing/2014/main" val="104694977"/>
                  </a:ext>
                </a:extLst>
              </a:tr>
              <a:tr h="370840">
                <a:tc>
                  <a:txBody>
                    <a:bodyPr/>
                    <a:lstStyle/>
                    <a:p>
                      <a:r>
                        <a:rPr lang="en-US" dirty="0"/>
                        <a:t>Logistic Regression </a:t>
                      </a:r>
                    </a:p>
                  </a:txBody>
                  <a:tcPr/>
                </a:tc>
                <a:tc>
                  <a:txBody>
                    <a:bodyPr/>
                    <a:lstStyle/>
                    <a:p>
                      <a:pPr algn="ctr"/>
                      <a:r>
                        <a:rPr lang="en-US" dirty="0"/>
                        <a:t>55.80%</a:t>
                      </a:r>
                    </a:p>
                  </a:txBody>
                  <a:tcPr/>
                </a:tc>
                <a:extLst>
                  <a:ext uri="{0D108BD9-81ED-4DB2-BD59-A6C34878D82A}">
                    <a16:rowId xmlns:a16="http://schemas.microsoft.com/office/drawing/2014/main" val="3693284574"/>
                  </a:ext>
                </a:extLst>
              </a:tr>
              <a:tr h="370840">
                <a:tc>
                  <a:txBody>
                    <a:bodyPr/>
                    <a:lstStyle/>
                    <a:p>
                      <a:r>
                        <a:rPr lang="en-US" dirty="0"/>
                        <a:t>Support Vector Machine</a:t>
                      </a:r>
                    </a:p>
                  </a:txBody>
                  <a:tcPr/>
                </a:tc>
                <a:tc>
                  <a:txBody>
                    <a:bodyPr/>
                    <a:lstStyle/>
                    <a:p>
                      <a:pPr algn="ctr"/>
                      <a:r>
                        <a:rPr lang="en-US" dirty="0"/>
                        <a:t>68.72%</a:t>
                      </a:r>
                    </a:p>
                  </a:txBody>
                  <a:tcPr/>
                </a:tc>
                <a:extLst>
                  <a:ext uri="{0D108BD9-81ED-4DB2-BD59-A6C34878D82A}">
                    <a16:rowId xmlns:a16="http://schemas.microsoft.com/office/drawing/2014/main" val="1126556633"/>
                  </a:ext>
                </a:extLst>
              </a:tr>
              <a:tr h="370840">
                <a:tc>
                  <a:txBody>
                    <a:bodyPr/>
                    <a:lstStyle/>
                    <a:p>
                      <a:r>
                        <a:rPr lang="en-IN" sz="1800" b="0" kern="1200" dirty="0">
                          <a:solidFill>
                            <a:schemeClr val="tx1"/>
                          </a:solidFill>
                          <a:effectLst/>
                        </a:rPr>
                        <a:t>Convolutional Neural Network</a:t>
                      </a:r>
                      <a:endParaRPr lang="en-US" dirty="0"/>
                    </a:p>
                  </a:txBody>
                  <a:tcPr/>
                </a:tc>
                <a:tc>
                  <a:txBody>
                    <a:bodyPr/>
                    <a:lstStyle/>
                    <a:p>
                      <a:pPr algn="ctr"/>
                      <a:r>
                        <a:rPr lang="en-US" dirty="0"/>
                        <a:t>72.33%</a:t>
                      </a:r>
                    </a:p>
                  </a:txBody>
                  <a:tcPr/>
                </a:tc>
                <a:extLst>
                  <a:ext uri="{0D108BD9-81ED-4DB2-BD59-A6C34878D82A}">
                    <a16:rowId xmlns:a16="http://schemas.microsoft.com/office/drawing/2014/main" val="302520628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11aae61f751_0_204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t>Conclusion</a:t>
            </a:r>
            <a:endParaRPr/>
          </a:p>
        </p:txBody>
      </p:sp>
      <p:sp>
        <p:nvSpPr>
          <p:cNvPr id="379" name="Google Shape;379;g11aae61f751_0_2047"/>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457200" lvl="0" indent="-355600" algn="l" rtl="0">
              <a:lnSpc>
                <a:spcPct val="100000"/>
              </a:lnSpc>
              <a:spcBef>
                <a:spcPts val="0"/>
              </a:spcBef>
              <a:spcAft>
                <a:spcPts val="0"/>
              </a:spcAft>
              <a:buClr>
                <a:srgbClr val="001A36"/>
              </a:buClr>
              <a:buSzPts val="2000"/>
              <a:buChar char="⬥"/>
            </a:pPr>
            <a:r>
              <a:rPr lang="en-US" sz="2000" dirty="0">
                <a:solidFill>
                  <a:srgbClr val="001A36"/>
                </a:solidFill>
              </a:rPr>
              <a:t>In the case of forest fire detection ML algorithms remove the difficulty faced in traditional methods like man standing on a tower and monitoring the environment. </a:t>
            </a:r>
            <a:endParaRPr sz="2000" dirty="0">
              <a:solidFill>
                <a:srgbClr val="001A36"/>
              </a:solidFill>
            </a:endParaRPr>
          </a:p>
          <a:p>
            <a:pPr marL="457200" lvl="0" indent="0" algn="l" rtl="0">
              <a:lnSpc>
                <a:spcPct val="100000"/>
              </a:lnSpc>
              <a:spcBef>
                <a:spcPts val="0"/>
              </a:spcBef>
              <a:spcAft>
                <a:spcPts val="0"/>
              </a:spcAft>
              <a:buSzPts val="1800"/>
              <a:buNone/>
            </a:pPr>
            <a:endParaRPr sz="2000" dirty="0">
              <a:solidFill>
                <a:srgbClr val="001A36"/>
              </a:solidFill>
            </a:endParaRPr>
          </a:p>
          <a:p>
            <a:pPr marL="457200" lvl="0" indent="-355600" algn="l" rtl="0">
              <a:lnSpc>
                <a:spcPct val="100000"/>
              </a:lnSpc>
              <a:spcBef>
                <a:spcPts val="0"/>
              </a:spcBef>
              <a:spcAft>
                <a:spcPts val="0"/>
              </a:spcAft>
              <a:buClr>
                <a:srgbClr val="001A36"/>
              </a:buClr>
              <a:buSzPts val="2000"/>
              <a:buChar char="⬥"/>
            </a:pPr>
            <a:r>
              <a:rPr lang="en-US" sz="2000" dirty="0">
                <a:solidFill>
                  <a:srgbClr val="001A36"/>
                </a:solidFill>
              </a:rPr>
              <a:t>All the data in the dataset has to be aggregated to reach the result so it is done by using tree based and cluster based methods.</a:t>
            </a:r>
            <a:endParaRPr sz="2000" dirty="0">
              <a:solidFill>
                <a:srgbClr val="001A36"/>
              </a:solidFill>
            </a:endParaRPr>
          </a:p>
          <a:p>
            <a:pPr marL="457200" lvl="0" indent="0" algn="l" rtl="0">
              <a:lnSpc>
                <a:spcPct val="100000"/>
              </a:lnSpc>
              <a:spcBef>
                <a:spcPts val="0"/>
              </a:spcBef>
              <a:spcAft>
                <a:spcPts val="0"/>
              </a:spcAft>
              <a:buSzPts val="1800"/>
              <a:buNone/>
            </a:pPr>
            <a:endParaRPr sz="2000" dirty="0">
              <a:solidFill>
                <a:srgbClr val="001A36"/>
              </a:solidFill>
            </a:endParaRPr>
          </a:p>
          <a:p>
            <a:pPr indent="-355600">
              <a:spcBef>
                <a:spcPts val="0"/>
              </a:spcBef>
              <a:buClr>
                <a:srgbClr val="001A36"/>
              </a:buClr>
              <a:buSzPts val="2000"/>
            </a:pPr>
            <a:r>
              <a:rPr lang="en-US" sz="2000" dirty="0">
                <a:solidFill>
                  <a:srgbClr val="001A36"/>
                </a:solidFill>
              </a:rPr>
              <a:t>With the use of machine learning techniques, the problem of faulty nodes is minimized. With the use of regression algorithm network lifetime is enhanced and with the use of decision tree algorithm network lifetime is enhanced as well as accuracy. SVM and Convolutional neural network (CNN) gives better results. </a:t>
            </a:r>
            <a:endParaRPr sz="2000" dirty="0">
              <a:solidFill>
                <a:srgbClr val="001A3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11aae61f751_0_205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a:t>Future Plan</a:t>
            </a:r>
            <a:endParaRPr/>
          </a:p>
        </p:txBody>
      </p:sp>
      <p:sp>
        <p:nvSpPr>
          <p:cNvPr id="385" name="Google Shape;385;g11aae61f751_0_205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2000" dirty="0">
                <a:solidFill>
                  <a:srgbClr val="001A36"/>
                </a:solidFill>
              </a:rPr>
              <a:t>We will be finding a method based on machine learning which will be,</a:t>
            </a:r>
            <a:endParaRPr sz="2000" dirty="0">
              <a:solidFill>
                <a:srgbClr val="001A36"/>
              </a:solidFill>
            </a:endParaRPr>
          </a:p>
          <a:p>
            <a:pPr marL="457200" lvl="0" indent="-355600" algn="l" rtl="0">
              <a:lnSpc>
                <a:spcPct val="100000"/>
              </a:lnSpc>
              <a:spcBef>
                <a:spcPts val="0"/>
              </a:spcBef>
              <a:spcAft>
                <a:spcPts val="0"/>
              </a:spcAft>
              <a:buClr>
                <a:srgbClr val="001A36"/>
              </a:buClr>
              <a:buSzPts val="2000"/>
              <a:buChar char="●"/>
            </a:pPr>
            <a:r>
              <a:rPr lang="en-US" sz="2000" dirty="0">
                <a:solidFill>
                  <a:srgbClr val="001A36"/>
                </a:solidFill>
              </a:rPr>
              <a:t>Accurate in prediction</a:t>
            </a:r>
            <a:endParaRPr sz="2000" dirty="0">
              <a:solidFill>
                <a:srgbClr val="001A36"/>
              </a:solidFill>
            </a:endParaRPr>
          </a:p>
          <a:p>
            <a:pPr marL="457200" lvl="0" indent="-355600" algn="l" rtl="0">
              <a:lnSpc>
                <a:spcPct val="100000"/>
              </a:lnSpc>
              <a:spcBef>
                <a:spcPts val="0"/>
              </a:spcBef>
              <a:spcAft>
                <a:spcPts val="0"/>
              </a:spcAft>
              <a:buClr>
                <a:srgbClr val="001A36"/>
              </a:buClr>
              <a:buSzPts val="2000"/>
              <a:buChar char="●"/>
            </a:pPr>
            <a:r>
              <a:rPr lang="en-US" sz="2000" dirty="0">
                <a:solidFill>
                  <a:srgbClr val="001A36"/>
                </a:solidFill>
              </a:rPr>
              <a:t>Fault Tolerant</a:t>
            </a:r>
            <a:endParaRPr sz="2000" dirty="0">
              <a:solidFill>
                <a:srgbClr val="001A36"/>
              </a:solidFill>
            </a:endParaRPr>
          </a:p>
          <a:p>
            <a:pPr marL="457200" lvl="0" indent="-355600" algn="l" rtl="0">
              <a:lnSpc>
                <a:spcPct val="100000"/>
              </a:lnSpc>
              <a:spcBef>
                <a:spcPts val="0"/>
              </a:spcBef>
              <a:spcAft>
                <a:spcPts val="0"/>
              </a:spcAft>
              <a:buClr>
                <a:srgbClr val="001A36"/>
              </a:buClr>
              <a:buSzPts val="2000"/>
              <a:buChar char="●"/>
            </a:pPr>
            <a:r>
              <a:rPr lang="en-US" sz="2000" dirty="0">
                <a:solidFill>
                  <a:srgbClr val="001A36"/>
                </a:solidFill>
              </a:rPr>
              <a:t>Robust</a:t>
            </a:r>
            <a:endParaRPr sz="2000" dirty="0">
              <a:solidFill>
                <a:srgbClr val="001A36"/>
              </a:solidFill>
            </a:endParaRPr>
          </a:p>
          <a:p>
            <a:pPr marL="0" lvl="0" indent="0" algn="l" rtl="0">
              <a:lnSpc>
                <a:spcPct val="100000"/>
              </a:lnSpc>
              <a:spcBef>
                <a:spcPts val="0"/>
              </a:spcBef>
              <a:spcAft>
                <a:spcPts val="0"/>
              </a:spcAft>
              <a:buSzPts val="1800"/>
              <a:buNone/>
            </a:pPr>
            <a:endParaRPr sz="2000" dirty="0">
              <a:solidFill>
                <a:srgbClr val="001A36"/>
              </a:solidFill>
            </a:endParaRPr>
          </a:p>
          <a:p>
            <a:pPr marL="0" lvl="0" indent="0" algn="l" rtl="0">
              <a:lnSpc>
                <a:spcPct val="100000"/>
              </a:lnSpc>
              <a:spcBef>
                <a:spcPts val="0"/>
              </a:spcBef>
              <a:spcAft>
                <a:spcPts val="0"/>
              </a:spcAft>
              <a:buSzPts val="1800"/>
              <a:buNone/>
            </a:pPr>
            <a:r>
              <a:rPr lang="en-US" sz="2000" dirty="0">
                <a:solidFill>
                  <a:srgbClr val="001A36"/>
                </a:solidFill>
              </a:rPr>
              <a:t>And then finding its space and time complexity and will try to optimize it.</a:t>
            </a:r>
          </a:p>
          <a:p>
            <a:pPr marL="0" lvl="0" indent="0" algn="l" rtl="0">
              <a:lnSpc>
                <a:spcPct val="100000"/>
              </a:lnSpc>
              <a:spcBef>
                <a:spcPts val="0"/>
              </a:spcBef>
              <a:spcAft>
                <a:spcPts val="0"/>
              </a:spcAft>
              <a:buSzPts val="1800"/>
              <a:buNone/>
            </a:pPr>
            <a:endParaRPr lang="en-US" sz="2000" dirty="0">
              <a:solidFill>
                <a:srgbClr val="001A36"/>
              </a:solidFill>
            </a:endParaRPr>
          </a:p>
          <a:p>
            <a:pPr marL="0" lvl="0" indent="0" algn="l" rtl="0">
              <a:lnSpc>
                <a:spcPct val="100000"/>
              </a:lnSpc>
              <a:spcBef>
                <a:spcPts val="0"/>
              </a:spcBef>
              <a:spcAft>
                <a:spcPts val="0"/>
              </a:spcAft>
              <a:buSzPts val="1800"/>
              <a:buNone/>
            </a:pPr>
            <a:r>
              <a:rPr lang="en-US" sz="2000" dirty="0">
                <a:solidFill>
                  <a:srgbClr val="001A36"/>
                </a:solidFill>
              </a:rPr>
              <a:t>GitHub Repository </a:t>
            </a:r>
            <a:r>
              <a:rPr lang="en-US" sz="2000" dirty="0" err="1">
                <a:solidFill>
                  <a:srgbClr val="001A36"/>
                </a:solidFill>
              </a:rPr>
              <a:t>Link:</a:t>
            </a:r>
            <a:r>
              <a:rPr lang="en-US" sz="2000" dirty="0" err="1">
                <a:solidFill>
                  <a:srgbClr val="001A36"/>
                </a:solidFill>
                <a:hlinkClick r:id="rId3"/>
              </a:rPr>
              <a:t>https</a:t>
            </a:r>
            <a:r>
              <a:rPr lang="en-US" sz="2000" dirty="0">
                <a:solidFill>
                  <a:srgbClr val="001A36"/>
                </a:solidFill>
                <a:hlinkClick r:id="rId3"/>
              </a:rPr>
              <a:t>://github.com/Pamarthiaadi9/</a:t>
            </a:r>
            <a:r>
              <a:rPr lang="en-US" sz="2000" dirty="0" err="1">
                <a:solidFill>
                  <a:srgbClr val="001A36"/>
                </a:solidFill>
                <a:hlinkClick r:id="rId3"/>
              </a:rPr>
              <a:t>Forest_Fire_Detection_using_CNN_Adv</a:t>
            </a:r>
            <a:endParaRPr lang="en-US" sz="2000" dirty="0">
              <a:solidFill>
                <a:srgbClr val="001A36"/>
              </a:solidFill>
            </a:endParaRPr>
          </a:p>
          <a:p>
            <a:pPr marL="342900" lvl="0" indent="-139700" algn="l" rtl="0">
              <a:lnSpc>
                <a:spcPct val="100000"/>
              </a:lnSpc>
              <a:spcBef>
                <a:spcPts val="0"/>
              </a:spcBef>
              <a:spcAft>
                <a:spcPts val="0"/>
              </a:spcAft>
              <a:buSzPts val="3200"/>
              <a:buNone/>
            </a:pPr>
            <a:endParaRPr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5"/>
          <p:cNvSpPr txBox="1">
            <a:spLocks noGrp="1"/>
          </p:cNvSpPr>
          <p:nvPr>
            <p:ph type="title"/>
          </p:nvPr>
        </p:nvSpPr>
        <p:spPr>
          <a:xfrm>
            <a:off x="1011411" y="2857500"/>
            <a:ext cx="9838267" cy="1143000"/>
          </a:xfrm>
          <a:prstGeom prst="rect">
            <a:avLst/>
          </a:prstGeom>
          <a:noFill/>
          <a:ln>
            <a:noFill/>
          </a:ln>
        </p:spPr>
        <p:txBody>
          <a:bodyPr spcFirstLastPara="1" wrap="square" lIns="91425" tIns="45700" rIns="91425" bIns="45700" anchor="ctr" anchorCtr="0">
            <a:noAutofit/>
          </a:bodyPr>
          <a:lstStyle/>
          <a:p>
            <a:pPr marL="0" lvl="0" indent="0" algn="ctr" rtl="0">
              <a:lnSpc>
                <a:spcPct val="85000"/>
              </a:lnSpc>
              <a:spcBef>
                <a:spcPts val="0"/>
              </a:spcBef>
              <a:spcAft>
                <a:spcPts val="0"/>
              </a:spcAft>
              <a:buSzPts val="1400"/>
              <a:buNone/>
            </a:pPr>
            <a:r>
              <a:rPr lang="en-US" sz="7200" dirty="0">
                <a:solidFill>
                  <a:schemeClr val="accent1"/>
                </a:solidFill>
              </a:rPr>
              <a:t>!  Thank You  !</a:t>
            </a:r>
            <a:endParaRPr dirty="0">
              <a:solidFill>
                <a:schemeClr val="accent1"/>
              </a:solidFill>
            </a:endParaRP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TM03457464[[fn=Dividend]]</Template>
  <TotalTime>21</TotalTime>
  <Words>1103</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Gill Sans MT</vt:lpstr>
      <vt:lpstr>Noto Sans Symbols</vt:lpstr>
      <vt:lpstr>Times New Roman</vt:lpstr>
      <vt:lpstr>TimesNewRomanPSMT</vt:lpstr>
      <vt:lpstr>Wingdings 2</vt:lpstr>
      <vt:lpstr>Dividend</vt:lpstr>
      <vt:lpstr>Internship Project Presentation On  Forest fire detection using CNN </vt:lpstr>
      <vt:lpstr>Contents</vt:lpstr>
      <vt:lpstr>Introduction</vt:lpstr>
      <vt:lpstr>Requirements of Project</vt:lpstr>
      <vt:lpstr>Literature Survey</vt:lpstr>
      <vt:lpstr>Comparative Analysis of Existing Works</vt:lpstr>
      <vt:lpstr>Proposed Approach</vt:lpstr>
      <vt:lpstr>Project Design/Model</vt:lpstr>
      <vt:lpstr>Implementation Analysis</vt:lpstr>
      <vt:lpstr>Results</vt:lpstr>
      <vt:lpstr>Conclusion</vt:lpstr>
      <vt:lpstr>Future Plan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Project Presentation On  Forest fire detection using CNN</dc:title>
  <dc:creator>Aadi Pamarthi</dc:creator>
  <cp:lastModifiedBy>Aadi Siva Kartheek Pamarthi</cp:lastModifiedBy>
  <cp:revision>6</cp:revision>
  <dcterms:created xsi:type="dcterms:W3CDTF">2019-09-25T05:42:20Z</dcterms:created>
  <dcterms:modified xsi:type="dcterms:W3CDTF">2025-02-12T12:33:35Z</dcterms:modified>
</cp:coreProperties>
</file>